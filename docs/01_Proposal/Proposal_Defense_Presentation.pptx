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23"/>
  </p:notesMasterIdLst>
  <p:handoutMasterIdLst>
    <p:handoutMasterId r:id="rId24"/>
  </p:handoutMasterIdLst>
  <p:sldIdLst>
    <p:sldId id="256" r:id="rId2"/>
    <p:sldId id="257" r:id="rId3"/>
    <p:sldId id="277" r:id="rId4"/>
    <p:sldId id="308" r:id="rId5"/>
    <p:sldId id="311" r:id="rId6"/>
    <p:sldId id="314" r:id="rId7"/>
    <p:sldId id="329" r:id="rId8"/>
    <p:sldId id="316" r:id="rId9"/>
    <p:sldId id="317" r:id="rId10"/>
    <p:sldId id="318" r:id="rId11"/>
    <p:sldId id="319" r:id="rId12"/>
    <p:sldId id="320" r:id="rId13"/>
    <p:sldId id="321" r:id="rId14"/>
    <p:sldId id="322" r:id="rId15"/>
    <p:sldId id="323" r:id="rId16"/>
    <p:sldId id="324" r:id="rId17"/>
    <p:sldId id="326" r:id="rId18"/>
    <p:sldId id="325" r:id="rId19"/>
    <p:sldId id="310" r:id="rId20"/>
    <p:sldId id="327" r:id="rId21"/>
    <p:sldId id="275" r:id="rId22"/>
  </p:sldIdLst>
  <p:sldSz cx="12192000" cy="6858000"/>
  <p:notesSz cx="6858000" cy="9144000"/>
  <p:embeddedFontLst>
    <p:embeddedFont>
      <p:font typeface="Roboto Black" panose="02000000000000000000" pitchFamily="2" charset="0"/>
      <p:bold r:id="rId25"/>
      <p:boldItalic r:id="rId26"/>
    </p:embeddedFont>
    <p:embeddedFont>
      <p:font typeface="Roboto Light" panose="02000000000000000000" pitchFamily="2" charset="0"/>
      <p:regular r:id="rId27"/>
      <p:italic r:id="rId28"/>
    </p:embeddedFont>
    <p:embeddedFont>
      <p:font typeface="Roboto Medium" panose="02000000000000000000" pitchFamily="2" charset="0"/>
      <p:regular r:id="rId29"/>
      <p:italic r:id="rId30"/>
    </p:embeddedFont>
  </p:embeddedFontLst>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4" userDrawn="1">
          <p15:clr>
            <a:srgbClr val="A4A3A4"/>
          </p15:clr>
        </p15:guide>
        <p15:guide id="2" pos="3839" userDrawn="1">
          <p15:clr>
            <a:srgbClr val="A4A3A4"/>
          </p15:clr>
        </p15:guide>
        <p15:guide id="3" pos="7293" userDrawn="1">
          <p15:clr>
            <a:srgbClr val="A4A3A4"/>
          </p15:clr>
        </p15:guide>
        <p15:guide id="4" pos="4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95" autoAdjust="0"/>
    <p:restoredTop sz="93203" autoAdjust="0"/>
  </p:normalViewPr>
  <p:slideViewPr>
    <p:cSldViewPr snapToGrid="0" showGuides="1">
      <p:cViewPr varScale="1">
        <p:scale>
          <a:sx n="77" d="100"/>
          <a:sy n="77" d="100"/>
        </p:scale>
        <p:origin x="1032" y="53"/>
      </p:cViewPr>
      <p:guideLst>
        <p:guide orient="horz" pos="4324"/>
        <p:guide pos="3839"/>
        <p:guide pos="7293"/>
        <p:guide pos="427"/>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Roboto Light" panose="02000000000000000000" charset="0"/>
              <a:ea typeface="Roboto Light" panose="02000000000000000000" charset="0"/>
              <a:cs typeface="Roboto Light" panose="02000000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Roboto Light" panose="02000000000000000000" charset="0"/>
              </a:rPr>
              <a:t>2025/10/13</a:t>
            </a:fld>
            <a:endParaRPr lang="zh-CN" altLang="en-US">
              <a:ea typeface="Roboto Light" panose="02000000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Roboto Light" panose="02000000000000000000" charset="0"/>
              <a:ea typeface="Roboto Light" panose="02000000000000000000" charset="0"/>
              <a:cs typeface="Roboto Light" panose="02000000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Roboto Light" panose="02000000000000000000" charset="0"/>
              </a:rPr>
              <a:t>‹#›</a:t>
            </a:fld>
            <a:endParaRPr lang="zh-CN" altLang="en-US">
              <a:ea typeface="Roboto Light" panose="02000000000000000000"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Roboto Light" panose="02000000000000000000" charset="0"/>
                <a:ea typeface="Roboto Light" panose="02000000000000000000" charset="0"/>
                <a:cs typeface="Roboto Light" panose="020000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Roboto Light" panose="02000000000000000000" charset="0"/>
                <a:ea typeface="Roboto Light" panose="02000000000000000000" charset="0"/>
                <a:cs typeface="Roboto Light" panose="02000000000000000000" charset="0"/>
              </a:defRPr>
            </a:lvl1pPr>
          </a:lstStyle>
          <a:p>
            <a:fld id="{D2A48B96-639E-45A3-A0BA-2464DFDB1FAA}"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Roboto Light" panose="02000000000000000000" charset="0"/>
                <a:ea typeface="Roboto Light" panose="02000000000000000000" charset="0"/>
                <a:cs typeface="Roboto Light" panose="020000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Roboto Light" panose="02000000000000000000" charset="0"/>
                <a:ea typeface="Roboto Light" panose="02000000000000000000" charset="0"/>
                <a:cs typeface="Roboto Light" panose="02000000000000000000" charset="0"/>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1pPr>
    <a:lvl2pPr marL="4572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2pPr>
    <a:lvl3pPr marL="9144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3pPr>
    <a:lvl4pPr marL="13716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4pPr>
    <a:lvl5pPr marL="18288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A56CC-A816-33BC-7BE4-D7917436B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C0327-9BF8-BFC7-3A9B-BB4041E80C94}"/>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A1600FB8-A98D-C912-38B6-2E1E42E826F9}"/>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BE5C7A17-04FF-C281-FAAE-7BB7EB834E87}"/>
              </a:ext>
            </a:extLst>
          </p:cNvPr>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1421084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E1F49-DE8C-A402-F798-0432C2015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92ACE-15E9-8DD0-FB19-70EFADCCD074}"/>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4CA4E4F-519F-3CC8-1D2E-D577E3582ECA}"/>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20FD4396-BC7A-C8C6-CD37-12DC5AC7B799}"/>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503924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502F-DD90-EA2D-E0A0-0AC708392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2BCD1-356B-D2B2-BDBC-C1B42BD68D0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D24BE99E-0FCE-9C34-C487-F8A610FE3D11}"/>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3D48493C-237A-0D88-541A-6D9647AAE1BA}"/>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3588446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FA53A-F529-45F6-9C3D-44DB84003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313E4-4380-CE3A-B80D-EED0CCEB706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753E1A0-1F27-102A-865B-06AE2710153D}"/>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BDB9B12B-AAB4-06CC-8D30-070406064A68}"/>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909039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0AFA-7B65-281D-4F6C-F7B1561FE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58C6B-0A9A-9B3F-4283-83716615DEB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C0760DA4-719A-F311-F900-9A4B2C804A16}"/>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EE9FD58A-6B9B-5D90-6CC4-CAE144DA5DC3}"/>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1452299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68075-7EAE-0D2B-5A90-C6D143B4E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4A628-A24F-50FB-12CA-86087D637085}"/>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84C2C35-EA4A-1523-AAB7-038EA912C521}"/>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56C30418-E5BC-19F7-167C-92CB2A1D29F5}"/>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776795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B5F9C-5843-2E5B-B0DB-FF026252F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BD8F5-78DD-C187-D4C0-C1135468834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9771AFB-D8B7-E876-6FD8-835E69EE872D}"/>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C64ED95B-6377-D9FC-ACC4-57DD3BD07C99}"/>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687015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D1737-89A8-B067-6A54-23F3218FC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E9577-8258-71DF-0111-BF9C2764D15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78D00AB-9D2E-D971-DFAA-C0BF9B9F217A}"/>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376C38CC-FE51-E452-7BBE-F3AD41005845}"/>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61497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312F-30EB-FE8A-E9EE-FB6327C45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E9621-8EA8-BED2-FD6C-680E888D26E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9F7F7E1F-B145-116A-E8D1-F245322EF106}"/>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7262E2E3-F2F0-D9A6-5492-8AB4F3231311}"/>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2006719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28F2-AA29-39BA-6654-88650C3ED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3F117-7995-EB35-5539-BA8B401F18A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953803F3-E898-CFB9-2898-CCB5B58198AB}"/>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18EAC17E-43F0-B022-2A10-B0313B1B8C0E}"/>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695656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0BA2-3E3E-261A-BD52-50ACC2B0D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42C2D-FE34-E682-B4F9-37C4DC89CB8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36D5247-A140-3BAE-C40C-BF18BF08DD62}"/>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135B5B7F-E9C1-69C5-F771-C7A46D438E8C}"/>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172895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59743-FC83-84A6-5F85-A7FED6AEC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F829C-108B-4225-336F-472315A0CD6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90903192-E098-322D-59BE-526DB7400840}"/>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57ACF6C7-C5DA-E412-7849-7E3910C78D89}"/>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30931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20462-49D8-5B5B-3A5F-9DB1C0728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5E94A-710F-0109-6B28-3EEFD2AD0DF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AC3D6938-950E-71A1-60CD-2FBB91110BF4}"/>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FB908FF1-5055-B60A-890B-11E665907FAA}"/>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311374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77A0-8B4D-096C-2627-96FBC744F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DA23C-38CE-1BB9-9D31-3090C2C7C17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D430E82-3DE8-8127-AA1D-163DE93F9A33}"/>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A44409DC-F574-75CE-43A5-53A285DA5533}"/>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4147155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5DF01-36F1-6073-5359-5971B4488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1F6E9-19CD-BAB0-CB12-6397FD5E02C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DC37745-E09D-72FE-4F5F-3CBD7B4620CE}"/>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0F62DF26-C9BA-6601-B08B-B5A96CE637E1}"/>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2414085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BAB38-936D-77F2-4DAC-DFA2C8887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0B689-3501-DFF9-D147-D01C468B81D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8A6AA29-AC1F-067C-CEDA-05363D3B5DF5}"/>
              </a:ext>
            </a:extLst>
          </p:cNvPr>
          <p:cNvSpPr>
            <a:spLocks noGrp="1"/>
          </p:cNvSpPr>
          <p:nvPr>
            <p:ph type="body" idx="3"/>
          </p:nvPr>
        </p:nvSpPr>
        <p:spPr/>
        <p:txBody>
          <a:bodyPr/>
          <a:lstStyle/>
          <a:p>
            <a:endParaRPr lang="en-US" dirty="0"/>
          </a:p>
        </p:txBody>
      </p:sp>
      <p:sp>
        <p:nvSpPr>
          <p:cNvPr id="4" name="Slide Number Placeholder 3">
            <a:extLst>
              <a:ext uri="{FF2B5EF4-FFF2-40B4-BE49-F238E27FC236}">
                <a16:creationId xmlns:a16="http://schemas.microsoft.com/office/drawing/2014/main" id="{2927843C-C092-F185-AE6F-42277D498623}"/>
              </a:ext>
            </a:extLst>
          </p:cNvPr>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3915652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4FD19-4EEF-EBF1-E055-08356286E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02210-2A36-DB88-D296-13FC57D9D40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EFCD16D7-63FB-6D1C-5A95-D2E3D1D54555}"/>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5AF0D629-6C62-8C54-B56E-3F1C6F37DF32}"/>
              </a:ext>
            </a:extLst>
          </p:cNvPr>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4187268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1571464-5897-4F34-8924-66432A11B002}"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9" name="矩形 8"/>
          <p:cNvSpPr/>
          <p:nvPr userDrawn="1"/>
        </p:nvSpPr>
        <p:spPr>
          <a:xfrm>
            <a:off x="0" y="0"/>
            <a:ext cx="12195810" cy="338709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
        <p:nvSpPr>
          <p:cNvPr id="10" name="矩形 9"/>
          <p:cNvSpPr/>
          <p:nvPr userDrawn="1"/>
        </p:nvSpPr>
        <p:spPr>
          <a:xfrm>
            <a:off x="782320" y="683260"/>
            <a:ext cx="10624185" cy="5491480"/>
          </a:xfrm>
          <a:prstGeom prst="rect">
            <a:avLst/>
          </a:prstGeom>
          <a:solidFill>
            <a:schemeClr val="bg1"/>
          </a:solidFill>
          <a:ln>
            <a:solidFill>
              <a:schemeClr val="accent5">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EC9FDBC-9885-4DDC-BA51-469089F612F9}"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7" name="矩形 6"/>
          <p:cNvSpPr/>
          <p:nvPr userDrawn="1"/>
        </p:nvSpPr>
        <p:spPr>
          <a:xfrm>
            <a:off x="0" y="302260"/>
            <a:ext cx="228600" cy="54102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0200914-FF55-467C-ABD2-CECABBFD23AF}"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7" name="矩形 6"/>
          <p:cNvSpPr/>
          <p:nvPr userDrawn="1"/>
        </p:nvSpPr>
        <p:spPr>
          <a:xfrm>
            <a:off x="0" y="0"/>
            <a:ext cx="12195810" cy="338709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
        <p:nvSpPr>
          <p:cNvPr id="8" name="矩形 7"/>
          <p:cNvSpPr/>
          <p:nvPr userDrawn="1"/>
        </p:nvSpPr>
        <p:spPr>
          <a:xfrm>
            <a:off x="239395" y="240665"/>
            <a:ext cx="11712575" cy="6376670"/>
          </a:xfrm>
          <a:prstGeom prst="rect">
            <a:avLst/>
          </a:prstGeom>
          <a:solidFill>
            <a:schemeClr val="bg1"/>
          </a:solidFill>
          <a:ln>
            <a:solidFill>
              <a:schemeClr val="accent5">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Roboto Light" panose="02000000000000000000" charset="0"/>
              <a:sym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8BF1752-761C-43A9-B318-26509FC0D0D0}" type="datetime1">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A4B0270-A65A-4BF7-BBD6-209AB3307C15}" type="datetime1">
              <a:rPr lang="zh-CN" altLang="en-US" smtClean="0"/>
              <a:t>2025/10/13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BF198DA-DF84-4E0D-99A1-57BAA1E9AA12}" type="datetime1">
              <a:rPr lang="zh-CN" altLang="en-US" smtClean="0"/>
              <a:t>2025/10/13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F045D6B-59FA-4AFF-9A47-2F58D39ABF81}" type="datetime1">
              <a:rPr lang="zh-CN" altLang="en-US" smtClean="0"/>
              <a:t>2025/10/13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CA2F60D-0D17-4CEE-A43C-7C29E846751A}" type="datetime1">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84F5B2E-CCA4-48A2-82F6-D1496360CC81}" type="datetime1">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57C6B2F-47BF-4B72-84AB-24F6BE4A6138}"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75ADB2-C5A9-47A0-9A91-AD32D77A7B96}"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Roboto Light" panose="02000000000000000000" charset="0"/>
                <a:ea typeface="Roboto Light" panose="02000000000000000000" charset="0"/>
                <a:cs typeface="Roboto Light" panose="02000000000000000000" charset="0"/>
              </a:defRPr>
            </a:lvl1pPr>
          </a:lstStyle>
          <a:p>
            <a:fld id="{2510B8B6-4FF6-4205-B6CA-12E19CA060E8}" type="datetime1">
              <a:rPr lang="zh-CN" altLang="en-US" smtClean="0"/>
              <a:t>2025/10/13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Roboto Light" panose="02000000000000000000" charset="0"/>
                <a:ea typeface="Roboto Light" panose="02000000000000000000" charset="0"/>
                <a:cs typeface="Roboto Light"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Roboto Light" panose="02000000000000000000" charset="0"/>
                <a:ea typeface="Roboto Light" panose="02000000000000000000" charset="0"/>
                <a:cs typeface="Roboto Light"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Light" panose="02000000000000000000" charset="0"/>
          <a:ea typeface="Roboto Light" panose="02000000000000000000" charset="0"/>
          <a:cs typeface="Roboto Light"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Light" panose="02000000000000000000" charset="0"/>
          <a:ea typeface="Roboto Light" panose="02000000000000000000" charset="0"/>
          <a:cs typeface="Roboto Light"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Light" panose="02000000000000000000" charset="0"/>
          <a:ea typeface="Roboto Light" panose="02000000000000000000" charset="0"/>
          <a:cs typeface="Roboto Light"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Light" panose="02000000000000000000" charset="0"/>
          <a:ea typeface="Roboto Light" panose="02000000000000000000" charset="0"/>
          <a:cs typeface="Roboto Light"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Light" panose="02000000000000000000" charset="0"/>
          <a:ea typeface="Roboto Light" panose="02000000000000000000" charset="0"/>
          <a:cs typeface="Roboto Light"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Light" panose="02000000000000000000" charset="0"/>
          <a:ea typeface="Roboto Light" panose="02000000000000000000" charset="0"/>
          <a:cs typeface="Roboto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arxiv.org/abs/2301.05012"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object 6"/>
          <p:cNvPicPr/>
          <p:nvPr/>
        </p:nvPicPr>
        <p:blipFill>
          <a:blip r:embed="rId3" cstate="print"/>
          <a:stretch>
            <a:fillRect/>
          </a:stretch>
        </p:blipFill>
        <p:spPr>
          <a:xfrm>
            <a:off x="7512050" y="693420"/>
            <a:ext cx="3872865" cy="1101090"/>
          </a:xfrm>
          <a:prstGeom prst="rect">
            <a:avLst/>
          </a:prstGeom>
        </p:spPr>
      </p:pic>
      <p:sp>
        <p:nvSpPr>
          <p:cNvPr id="4" name="文本框 3"/>
          <p:cNvSpPr txBox="1"/>
          <p:nvPr/>
        </p:nvSpPr>
        <p:spPr>
          <a:xfrm>
            <a:off x="947738" y="1912086"/>
            <a:ext cx="10296525" cy="2062103"/>
          </a:xfrm>
          <a:prstGeom prst="rect">
            <a:avLst/>
          </a:prstGeom>
          <a:noFill/>
        </p:spPr>
        <p:txBody>
          <a:bodyPr wrap="square" rtlCol="0" anchor="t">
            <a:spAutoFit/>
          </a:bodyPr>
          <a:lstStyle/>
          <a:p>
            <a:pPr algn="ctr">
              <a:lnSpc>
                <a:spcPct val="80000"/>
              </a:lnSpc>
              <a:spcBef>
                <a:spcPts val="300"/>
              </a:spcBef>
              <a:spcAft>
                <a:spcPts val="0"/>
              </a:spcAft>
              <a:buClrTx/>
              <a:buSzTx/>
              <a:buFontTx/>
            </a:pPr>
            <a:r>
              <a:rPr lang="en-US" altLang="zh-CN" sz="4000" dirty="0">
                <a:solidFill>
                  <a:srgbClr val="203864"/>
                </a:solidFill>
                <a:latin typeface="Times New Roman" panose="02020603050405020304" charset="0"/>
                <a:cs typeface="Times New Roman" panose="02020603050405020304" charset="0"/>
              </a:rPr>
              <a:t>Balancing Privacy, Accuracy, and Fairness: A Comparative Study of Privacy-Preserving Techniques in Pedestrian Detection Models for Public Surveillance</a:t>
            </a:r>
            <a:endParaRPr lang="zh-CN" altLang="en-US" sz="4000" dirty="0">
              <a:solidFill>
                <a:srgbClr val="203864"/>
              </a:solidFill>
              <a:latin typeface="Times New Roman" panose="02020603050405020304" charset="0"/>
              <a:cs typeface="Times New Roman" panose="02020603050405020304" charset="0"/>
            </a:endParaRPr>
          </a:p>
        </p:txBody>
      </p:sp>
      <p:sp>
        <p:nvSpPr>
          <p:cNvPr id="7" name="文本框 6"/>
          <p:cNvSpPr txBox="1"/>
          <p:nvPr/>
        </p:nvSpPr>
        <p:spPr>
          <a:xfrm>
            <a:off x="1146110" y="4063051"/>
            <a:ext cx="9899780" cy="529376"/>
          </a:xfrm>
          <a:prstGeom prst="rect">
            <a:avLst/>
          </a:prstGeom>
          <a:noFill/>
        </p:spPr>
        <p:txBody>
          <a:bodyPr wrap="square" rtlCol="0" anchor="t">
            <a:spAutoFit/>
          </a:bodyPr>
          <a:lstStyle/>
          <a:p>
            <a:pPr algn="ctr">
              <a:lnSpc>
                <a:spcPct val="130000"/>
              </a:lnSpc>
              <a:spcBef>
                <a:spcPts val="0"/>
              </a:spcBef>
              <a:spcAft>
                <a:spcPts val="0"/>
              </a:spcAft>
              <a:buClrTx/>
              <a:buSzTx/>
              <a:buFontTx/>
            </a:pPr>
            <a:r>
              <a:rPr lang="en-US" altLang="zh-CN" sz="2400" dirty="0">
                <a:solidFill>
                  <a:srgbClr val="203864"/>
                </a:solidFill>
                <a:latin typeface="Roboto Medium" panose="02000000000000000000" charset="0"/>
                <a:ea typeface="Roboto Light" panose="02000000000000000000" charset="0"/>
                <a:cs typeface="Roboto Medium" panose="02000000000000000000" charset="0"/>
                <a:sym typeface="+mn-ea"/>
              </a:rPr>
              <a:t>S.A.G.N. Jayasekara</a:t>
            </a:r>
            <a:r>
              <a:rPr lang="en-US" altLang="en-US" b="1" dirty="0">
                <a:solidFill>
                  <a:srgbClr val="203864"/>
                </a:solidFill>
                <a:latin typeface="Times New Roman" panose="02020603050405020304" charset="0"/>
                <a:ea typeface="Roboto Light" panose="02000000000000000000" charset="0"/>
                <a:cs typeface="Times New Roman" panose="02020603050405020304" charset="0"/>
                <a:sym typeface="+mn-ea"/>
              </a:rPr>
              <a:t>, </a:t>
            </a:r>
            <a:r>
              <a:rPr lang="en-US" altLang="zh-CN" sz="2400" dirty="0">
                <a:solidFill>
                  <a:srgbClr val="203864"/>
                </a:solidFill>
                <a:latin typeface="Roboto Medium" panose="02000000000000000000" charset="0"/>
                <a:ea typeface="Roboto Light" panose="02000000000000000000" charset="0"/>
                <a:cs typeface="Roboto Medium" panose="02000000000000000000" charset="0"/>
                <a:sym typeface="+mn-ea"/>
              </a:rPr>
              <a:t>sagnjayasekara@std.appsc.sab.ac.lk</a:t>
            </a:r>
            <a:r>
              <a:rPr lang="en-US" altLang="en-US" b="1" dirty="0">
                <a:solidFill>
                  <a:srgbClr val="203864"/>
                </a:solidFill>
                <a:latin typeface="Times New Roman" panose="02020603050405020304" charset="0"/>
                <a:ea typeface="Roboto Light" panose="02000000000000000000" charset="0"/>
                <a:cs typeface="Times New Roman" panose="02020603050405020304" charset="0"/>
                <a:sym typeface="+mn-ea"/>
              </a:rPr>
              <a:t>, </a:t>
            </a:r>
            <a:r>
              <a:rPr lang="en-US" altLang="en-US" sz="2400" b="1" dirty="0">
                <a:solidFill>
                  <a:srgbClr val="203864"/>
                </a:solidFill>
                <a:latin typeface="Roboto Medium" panose="02000000000000000000" charset="0"/>
                <a:ea typeface="Roboto Light" panose="02000000000000000000" charset="0"/>
                <a:cs typeface="Roboto Medium" panose="02000000000000000000" charset="0"/>
                <a:sym typeface="+mn-ea"/>
              </a:rPr>
              <a:t>20APC4635</a:t>
            </a:r>
            <a:r>
              <a:rPr lang="en-US" altLang="zh-CN" sz="2400" dirty="0">
                <a:solidFill>
                  <a:srgbClr val="203864"/>
                </a:solidFill>
                <a:latin typeface="Roboto Medium" panose="02000000000000000000" charset="0"/>
                <a:ea typeface="Roboto Light" panose="02000000000000000000" charset="0"/>
                <a:cs typeface="Roboto Medium" panose="02000000000000000000" charset="0"/>
              </a:rPr>
              <a:t> </a:t>
            </a:r>
          </a:p>
        </p:txBody>
      </p:sp>
      <p:sp>
        <p:nvSpPr>
          <p:cNvPr id="14" name="文本框 7"/>
          <p:cNvSpPr txBox="1"/>
          <p:nvPr/>
        </p:nvSpPr>
        <p:spPr>
          <a:xfrm>
            <a:off x="925830" y="4696080"/>
            <a:ext cx="4057015" cy="147732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dirty="0">
                <a:solidFill>
                  <a:schemeClr val="tx1">
                    <a:lumMod val="75000"/>
                    <a:lumOff val="25000"/>
                  </a:schemeClr>
                </a:solidFill>
                <a:latin typeface="Roboto Light" panose="02000000000000000000" charset="0"/>
                <a:cs typeface="Roboto Light" panose="02000000000000000000" charset="0"/>
                <a:sym typeface="+mn-lt"/>
              </a:rPr>
              <a:t>Supervisor</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sym typeface="+mn-lt"/>
              </a:rPr>
              <a:t>:</a:t>
            </a:r>
            <a:r>
              <a:rPr lang="zh-CN" altLang="en-US" dirty="0">
                <a:solidFill>
                  <a:schemeClr val="tx1">
                    <a:lumMod val="75000"/>
                    <a:lumOff val="25000"/>
                  </a:schemeClr>
                </a:solidFill>
                <a:latin typeface="Roboto Light" panose="02000000000000000000" charset="0"/>
                <a:cs typeface="Roboto Light" panose="02000000000000000000" charset="0"/>
                <a:sym typeface="+mn-lt"/>
              </a:rPr>
              <a:t> </a:t>
            </a:r>
            <a:r>
              <a:rPr lang="en-US" altLang="zh-CN" dirty="0">
                <a:solidFill>
                  <a:schemeClr val="tx1">
                    <a:lumMod val="75000"/>
                    <a:lumOff val="25000"/>
                  </a:schemeClr>
                </a:solidFill>
                <a:latin typeface="Roboto Light" panose="02000000000000000000" charset="0"/>
                <a:cs typeface="Roboto Light" panose="02000000000000000000" charset="0"/>
                <a:sym typeface="+mn-lt"/>
              </a:rPr>
              <a:t>Mr. S. Nishankar</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Lecturer (Prob.)</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Department of Software Engineering,</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Faculty of Computing,</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Sabaragamuwa University of Sri Lanka.</a:t>
            </a:r>
          </a:p>
        </p:txBody>
      </p:sp>
      <p:sp>
        <p:nvSpPr>
          <p:cNvPr id="3" name="object 3"/>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5" name="object 2"/>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文本框 55"/>
          <p:cNvSpPr txBox="1"/>
          <p:nvPr/>
        </p:nvSpPr>
        <p:spPr>
          <a:xfrm>
            <a:off x="259715" y="210820"/>
            <a:ext cx="3175635" cy="768350"/>
          </a:xfrm>
          <a:prstGeom prst="rect">
            <a:avLst/>
          </a:prstGeom>
          <a:noFill/>
        </p:spPr>
        <p:txBody>
          <a:bodyPr wrap="square" rtlCol="0" anchor="t">
            <a:spAutoFit/>
          </a:bodyPr>
          <a:lstStyle/>
          <a:p>
            <a:pPr lvl="0" algn="ctr">
              <a:buClrTx/>
              <a:buSzTx/>
              <a:buFontTx/>
            </a:pPr>
            <a:r>
              <a:rPr lang="zh-CN" altLang="en-US" sz="4400" dirty="0">
                <a:solidFill>
                  <a:srgbClr val="203864"/>
                </a:solidFill>
                <a:latin typeface="Times New Roman" panose="02020603050405020304" charset="0"/>
                <a:cs typeface="Times New Roman" panose="02020603050405020304" charset="0"/>
                <a:sym typeface="+mn-ea"/>
              </a:rPr>
              <a:t>CONTENTS</a:t>
            </a:r>
          </a:p>
        </p:txBody>
      </p:sp>
      <p:sp>
        <p:nvSpPr>
          <p:cNvPr id="8" name="文本框 7"/>
          <p:cNvSpPr txBox="1"/>
          <p:nvPr/>
        </p:nvSpPr>
        <p:spPr>
          <a:xfrm>
            <a:off x="3378200" y="979170"/>
            <a:ext cx="6369957" cy="5257165"/>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1" indent="-342900" algn="l">
              <a:spcAft>
                <a:spcPts val="1800"/>
              </a:spcAft>
              <a:buClrTx/>
              <a:buSzTx/>
              <a:buFont typeface="Calibri" panose="020F0502020204030204" charset="0"/>
              <a:buChar char="①"/>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a:t>
            </a: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Background</a:t>
            </a: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lgn="l">
              <a:spcAft>
                <a:spcPts val="1800"/>
              </a:spcAft>
              <a:buClrTx/>
              <a:buSzTx/>
              <a:buFont typeface="Calibri" panose="020F0502020204030204" charset="0"/>
              <a:buChar char="②"/>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Literature Review</a:t>
            </a:r>
          </a:p>
          <a:p>
            <a:pPr marL="342900" lvl="1" indent="-342900" algn="l">
              <a:spcAft>
                <a:spcPts val="1800"/>
              </a:spcAft>
              <a:buClrTx/>
              <a:buSzTx/>
              <a:buFont typeface="Calibri" panose="020F0502020204030204" charset="0"/>
              <a:buChar char="③"/>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Research </a:t>
            </a: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Gap</a:t>
            </a:r>
          </a:p>
          <a:p>
            <a:pPr marL="342900" lvl="1" indent="-342900" algn="l">
              <a:spcAft>
                <a:spcPts val="1800"/>
              </a:spcAft>
              <a:buClrTx/>
              <a:buSzTx/>
              <a:buFont typeface="Calibri" panose="020F0502020204030204" pitchFamily="34" charset="0"/>
              <a:buChar char="④"/>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Significance of Research</a:t>
            </a:r>
          </a:p>
          <a:p>
            <a:pPr marL="342900" lvl="1" indent="-342900">
              <a:spcAft>
                <a:spcPts val="1800"/>
              </a:spcAft>
              <a:buFont typeface="Calibri" panose="020F0502020204030204" pitchFamily="34" charset="0"/>
              <a:buChar char="⑤"/>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Problem Statement &amp; Research Questions</a:t>
            </a: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spcAft>
                <a:spcPts val="1800"/>
              </a:spcAft>
              <a:buFont typeface="Calibri" panose="020F0502020204030204" pitchFamily="34" charset="0"/>
              <a:buChar char="⑥"/>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Research Objectives &amp; Goals </a:t>
            </a: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spcAft>
                <a:spcPts val="1800"/>
              </a:spcAft>
              <a:buFont typeface="Calibri" panose="020F0502020204030204" pitchFamily="34" charset="0"/>
              <a:buChar char="⑦"/>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Proposed Research Method/s</a:t>
            </a: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spcAft>
                <a:spcPts val="1800"/>
              </a:spcAft>
              <a:buFont typeface="Calibri" panose="020F0502020204030204" pitchFamily="34" charset="0"/>
              <a:buChar char="⑧"/>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Expected Outcome/s</a:t>
            </a: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lgn="l">
              <a:spcAft>
                <a:spcPts val="1800"/>
              </a:spcAft>
              <a:buClrTx/>
              <a:buSzTx/>
              <a:buFont typeface="Calibri" panose="020F0502020204030204" pitchFamily="34" charset="0"/>
              <a:buChar char="⑨"/>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References</a:t>
            </a:r>
          </a:p>
          <a:p>
            <a:pPr marL="342900" lvl="1" indent="-342900" algn="l">
              <a:buClrTx/>
              <a:buSzTx/>
              <a:buFont typeface="Calibri" panose="020F0502020204030204" charset="0"/>
              <a:buChar char="②"/>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p:txBody>
      </p:sp>
      <p:sp>
        <p:nvSpPr>
          <p:cNvPr id="30" name="文本框 29"/>
          <p:cNvSpPr txBox="1"/>
          <p:nvPr/>
        </p:nvSpPr>
        <p:spPr>
          <a:xfrm>
            <a:off x="1528445" y="4693920"/>
            <a:ext cx="481965" cy="536575"/>
          </a:xfrm>
          <a:prstGeom prst="rect">
            <a:avLst/>
          </a:prstGeom>
          <a:noFill/>
        </p:spPr>
        <p:txBody>
          <a:bodyPr wrap="square" rtlCol="0" anchor="t">
            <a:noAutofit/>
          </a:bodyPr>
          <a:lstStyle/>
          <a:p>
            <a:pPr lvl="0" algn="ctr">
              <a:buClrTx/>
              <a:buSzTx/>
              <a:buFontTx/>
            </a:pPr>
            <a:endParaRPr lang="en-US" altLang="zh-CN" sz="3600">
              <a:solidFill>
                <a:schemeClr val="bg1"/>
              </a:solidFill>
              <a:latin typeface="Roboto Black" panose="02000000000000000000" charset="0"/>
              <a:cs typeface="Roboto Black" panose="02000000000000000000" charset="0"/>
              <a:sym typeface="+mn-ea"/>
            </a:endParaRPr>
          </a:p>
        </p:txBody>
      </p:sp>
      <p:sp>
        <p:nvSpPr>
          <p:cNvPr id="3" name="object 3"/>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5" name="object 2"/>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7" name="object 6"/>
          <p:cNvPicPr/>
          <p:nvPr/>
        </p:nvPicPr>
        <p:blipFill>
          <a:blip r:embed="rId3" cstate="print"/>
          <a:stretch>
            <a:fillRect/>
          </a:stretch>
        </p:blipFill>
        <p:spPr>
          <a:xfrm>
            <a:off x="9952355" y="635"/>
            <a:ext cx="2239645" cy="711835"/>
          </a:xfrm>
          <a:prstGeom prst="rect">
            <a:avLst/>
          </a:prstGeom>
        </p:spPr>
      </p:pic>
      <p:sp>
        <p:nvSpPr>
          <p:cNvPr id="2" name="Slide Number Placeholder 1">
            <a:extLst>
              <a:ext uri="{FF2B5EF4-FFF2-40B4-BE49-F238E27FC236}">
                <a16:creationId xmlns:a16="http://schemas.microsoft.com/office/drawing/2014/main" id="{F8BE9968-4385-74CD-6CD0-24FCD664C738}"/>
              </a:ext>
            </a:extLst>
          </p:cNvPr>
          <p:cNvSpPr>
            <a:spLocks noGrp="1"/>
          </p:cNvSpPr>
          <p:nvPr>
            <p:ph type="sldNum" sz="quarter" idx="12"/>
          </p:nvPr>
        </p:nvSpPr>
        <p:spPr>
          <a:xfrm>
            <a:off x="5956819" y="6466302"/>
            <a:ext cx="278363" cy="365125"/>
          </a:xfrm>
        </p:spPr>
        <p:txBody>
          <a:bodyPr/>
          <a:lstStyle/>
          <a:p>
            <a:fld id="{565CE74E-AB26-4998-AD42-012C4C1AD076}" type="slidenum">
              <a:rPr lang="zh-CN" altLang="en-US" b="1" smtClean="0">
                <a:solidFill>
                  <a:srgbClr val="203864"/>
                </a:solidFill>
              </a:rPr>
              <a:t>2</a:t>
            </a:fld>
            <a:endParaRPr lang="zh-CN" altLang="en-US" b="1" dirty="0">
              <a:solidFill>
                <a:srgbClr val="20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0675" y="200025"/>
            <a:ext cx="4711065"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background</a:t>
            </a:r>
          </a:p>
        </p:txBody>
      </p:sp>
      <p:sp>
        <p:nvSpPr>
          <p:cNvPr id="9" name="文本框 8"/>
          <p:cNvSpPr txBox="1"/>
          <p:nvPr/>
        </p:nvSpPr>
        <p:spPr>
          <a:xfrm>
            <a:off x="320675" y="1316390"/>
            <a:ext cx="6789252"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The Role of AI Surveillance Systems</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p:cNvSpPr txBox="1"/>
          <p:nvPr/>
        </p:nvSpPr>
        <p:spPr>
          <a:xfrm>
            <a:off x="902970" y="1838360"/>
            <a:ext cx="10674985" cy="4207873"/>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Public surveillance systems are integral to modern infrastructure for pedestrian monitoring, traffic management, and public safety.</a:t>
            </a:r>
          </a:p>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Modern systems use computer vision (CV) for real-time monitoring.</a:t>
            </a:r>
          </a:p>
          <a:p>
            <a:pPr marL="342900" indent="-342900" algn="just">
              <a:lnSpc>
                <a:spcPct val="130000"/>
              </a:lnSpc>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Challenges:</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Privacy breaches (personally identifiable information exposure)</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Bias in detection across demographic groups</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Trade-off between privacy, accuracy, and fairness</a:t>
            </a:r>
          </a:p>
          <a:p>
            <a:pPr marL="342900" indent="-342900" algn="just">
              <a:lnSpc>
                <a:spcPct val="130000"/>
              </a:lnSpc>
              <a:buFont typeface="Arial" panose="020B0604020202020204" pitchFamily="34" charset="0"/>
              <a:buChar char="•"/>
            </a:pP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44D5091F-B56D-4DB8-B2CC-3D84FB8F0308}"/>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4E15D40C-6CE6-8E02-CF08-50455E591D1A}"/>
              </a:ext>
            </a:extLst>
          </p:cNvPr>
          <p:cNvSpPr>
            <a:spLocks noGrp="1"/>
          </p:cNvSpPr>
          <p:nvPr>
            <p:ph type="sldNum" sz="quarter" idx="12"/>
          </p:nvPr>
        </p:nvSpPr>
        <p:spPr>
          <a:xfrm>
            <a:off x="5952153" y="6466302"/>
            <a:ext cx="287694" cy="365125"/>
          </a:xfrm>
        </p:spPr>
        <p:txBody>
          <a:bodyPr/>
          <a:lstStyle/>
          <a:p>
            <a:fld id="{565CE74E-AB26-4998-AD42-012C4C1AD076}" type="slidenum">
              <a:rPr lang="zh-CN" altLang="en-US" b="1" smtClean="0">
                <a:solidFill>
                  <a:srgbClr val="203864"/>
                </a:solidFill>
              </a:rPr>
              <a:t>3</a:t>
            </a:fld>
            <a:endParaRPr lang="zh-CN" altLang="en-US" b="1" dirty="0">
              <a:solidFill>
                <a:srgbClr val="20386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D4067-B380-A19D-9D58-208D564682C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CD987FD-EB12-F2E9-6F13-BD6DBC2E06E1}"/>
              </a:ext>
            </a:extLst>
          </p:cNvPr>
          <p:cNvSpPr txBox="1"/>
          <p:nvPr/>
        </p:nvSpPr>
        <p:spPr>
          <a:xfrm>
            <a:off x="320675" y="200025"/>
            <a:ext cx="6318250"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Background (Cont.)</a:t>
            </a:r>
          </a:p>
        </p:txBody>
      </p:sp>
      <p:sp>
        <p:nvSpPr>
          <p:cNvPr id="9" name="文本框 8">
            <a:extLst>
              <a:ext uri="{FF2B5EF4-FFF2-40B4-BE49-F238E27FC236}">
                <a16:creationId xmlns:a16="http://schemas.microsoft.com/office/drawing/2014/main" id="{7E8F70C6-020C-FD85-7E55-F0158F784F31}"/>
              </a:ext>
            </a:extLst>
          </p:cNvPr>
          <p:cNvSpPr txBox="1"/>
          <p:nvPr/>
        </p:nvSpPr>
        <p:spPr>
          <a:xfrm>
            <a:off x="320674" y="1316390"/>
            <a:ext cx="6565317"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The Role of AI Surveillance Systems</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5" name="object 2">
            <a:extLst>
              <a:ext uri="{FF2B5EF4-FFF2-40B4-BE49-F238E27FC236}">
                <a16:creationId xmlns:a16="http://schemas.microsoft.com/office/drawing/2014/main" id="{864007D8-7A36-7E82-F0B8-388EB5C452AB}"/>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31F8BC34-437F-A4D2-1219-7A8E53782F55}"/>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18749A34-F188-F3DE-FFBB-82266602DCDD}"/>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28" name="文本框 11">
            <a:extLst>
              <a:ext uri="{FF2B5EF4-FFF2-40B4-BE49-F238E27FC236}">
                <a16:creationId xmlns:a16="http://schemas.microsoft.com/office/drawing/2014/main" id="{9EFAFE54-E5BC-1F58-7F58-FF6B7FEABDD8}"/>
              </a:ext>
            </a:extLst>
          </p:cNvPr>
          <p:cNvSpPr txBox="1"/>
          <p:nvPr/>
        </p:nvSpPr>
        <p:spPr>
          <a:xfrm>
            <a:off x="902970" y="1839611"/>
            <a:ext cx="8483626" cy="763626"/>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Need for responsible and transparent surveillance AI.</a:t>
            </a:r>
          </a:p>
        </p:txBody>
      </p:sp>
      <p:grpSp>
        <p:nvGrpSpPr>
          <p:cNvPr id="31" name="Group 30">
            <a:extLst>
              <a:ext uri="{FF2B5EF4-FFF2-40B4-BE49-F238E27FC236}">
                <a16:creationId xmlns:a16="http://schemas.microsoft.com/office/drawing/2014/main" id="{4E9A1A18-2458-CDF3-5667-64CC508A6CAB}"/>
              </a:ext>
            </a:extLst>
          </p:cNvPr>
          <p:cNvGrpSpPr/>
          <p:nvPr/>
        </p:nvGrpSpPr>
        <p:grpSpPr>
          <a:xfrm>
            <a:off x="3302008" y="2357120"/>
            <a:ext cx="5587985" cy="4002322"/>
            <a:chOff x="3458395" y="1903777"/>
            <a:chExt cx="5587985" cy="4002322"/>
          </a:xfrm>
        </p:grpSpPr>
        <p:pic>
          <p:nvPicPr>
            <p:cNvPr id="27" name="Picture 26">
              <a:extLst>
                <a:ext uri="{FF2B5EF4-FFF2-40B4-BE49-F238E27FC236}">
                  <a16:creationId xmlns:a16="http://schemas.microsoft.com/office/drawing/2014/main" id="{9D58662C-35BF-F92A-56A5-DA05B345575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458395" y="1903777"/>
              <a:ext cx="5587985" cy="3725323"/>
            </a:xfrm>
            <a:prstGeom prst="rect">
              <a:avLst/>
            </a:prstGeom>
          </p:spPr>
        </p:pic>
        <p:sp>
          <p:nvSpPr>
            <p:cNvPr id="29" name="TextBox 28">
              <a:extLst>
                <a:ext uri="{FF2B5EF4-FFF2-40B4-BE49-F238E27FC236}">
                  <a16:creationId xmlns:a16="http://schemas.microsoft.com/office/drawing/2014/main" id="{E88CD573-9C09-7A0E-BBDF-FF260D00B65C}"/>
                </a:ext>
              </a:extLst>
            </p:cNvPr>
            <p:cNvSpPr txBox="1"/>
            <p:nvPr/>
          </p:nvSpPr>
          <p:spPr>
            <a:xfrm>
              <a:off x="4518156" y="5629100"/>
              <a:ext cx="3468461" cy="276999"/>
            </a:xfrm>
            <a:prstGeom prst="rect">
              <a:avLst/>
            </a:prstGeom>
            <a:noFill/>
          </p:spPr>
          <p:txBody>
            <a:bodyPr wrap="square" rtlCol="0">
              <a:spAutoFit/>
            </a:bodyPr>
            <a:lstStyle/>
            <a:p>
              <a:r>
                <a:rPr lang="en-US" sz="1200" i="1" dirty="0"/>
                <a:t>Figure 1:Surveillance System process (Source: [1])</a:t>
              </a:r>
            </a:p>
          </p:txBody>
        </p:sp>
      </p:grpSp>
      <p:sp>
        <p:nvSpPr>
          <p:cNvPr id="32" name="文本框 11">
            <a:extLst>
              <a:ext uri="{FF2B5EF4-FFF2-40B4-BE49-F238E27FC236}">
                <a16:creationId xmlns:a16="http://schemas.microsoft.com/office/drawing/2014/main" id="{C366F459-662B-B13A-53D8-18BE33E3CB1C}"/>
              </a:ext>
            </a:extLst>
          </p:cNvPr>
          <p:cNvSpPr txBox="1"/>
          <p:nvPr/>
        </p:nvSpPr>
        <p:spPr>
          <a:xfrm>
            <a:off x="4258373" y="5740013"/>
            <a:ext cx="3675251" cy="434562"/>
          </a:xfrm>
          <a:prstGeom prst="rect">
            <a:avLst/>
          </a:prstGeom>
          <a:noFill/>
        </p:spPr>
        <p:txBody>
          <a:bodyPr wrap="square" rtlCol="0" anchor="t">
            <a:noAutofit/>
          </a:bodyPr>
          <a:lstStyle/>
          <a:p>
            <a:pPr algn="just">
              <a:lnSpc>
                <a:spcPct val="130000"/>
              </a:lnSpc>
              <a:spcBef>
                <a:spcPts val="0"/>
              </a:spcBef>
              <a:spcAft>
                <a:spcPts val="0"/>
              </a:spcAft>
            </a:pPr>
            <a:r>
              <a:rPr lang="en-US" altLang="zh-CN" sz="1600" i="1" dirty="0">
                <a:solidFill>
                  <a:schemeClr val="tx1">
                    <a:lumMod val="75000"/>
                    <a:lumOff val="25000"/>
                  </a:schemeClr>
                </a:solidFill>
                <a:latin typeface="Roboto Light" panose="02000000000000000000" charset="0"/>
                <a:cs typeface="Roboto Light" panose="02000000000000000000" charset="0"/>
                <a:sym typeface="+mn-ea"/>
              </a:rPr>
              <a:t>“Billions of video frames processed daily”</a:t>
            </a:r>
          </a:p>
        </p:txBody>
      </p:sp>
      <p:sp>
        <p:nvSpPr>
          <p:cNvPr id="33" name="Slide Number Placeholder 32">
            <a:extLst>
              <a:ext uri="{FF2B5EF4-FFF2-40B4-BE49-F238E27FC236}">
                <a16:creationId xmlns:a16="http://schemas.microsoft.com/office/drawing/2014/main" id="{950FB54E-9095-9569-2B3C-5CACB4A54F6C}"/>
              </a:ext>
            </a:extLst>
          </p:cNvPr>
          <p:cNvSpPr>
            <a:spLocks noGrp="1"/>
          </p:cNvSpPr>
          <p:nvPr>
            <p:ph type="sldNum" sz="quarter" idx="12"/>
          </p:nvPr>
        </p:nvSpPr>
        <p:spPr>
          <a:xfrm>
            <a:off x="5952153" y="6466302"/>
            <a:ext cx="287694" cy="365125"/>
          </a:xfrm>
        </p:spPr>
        <p:txBody>
          <a:bodyPr/>
          <a:lstStyle/>
          <a:p>
            <a:fld id="{565CE74E-AB26-4998-AD42-012C4C1AD076}" type="slidenum">
              <a:rPr lang="zh-CN" altLang="en-US" b="1" smtClean="0">
                <a:solidFill>
                  <a:srgbClr val="203864"/>
                </a:solidFill>
              </a:rPr>
              <a:t>4</a:t>
            </a:fld>
            <a:endParaRPr lang="zh-CN" altLang="en-US" b="1" dirty="0">
              <a:solidFill>
                <a:srgbClr val="203864"/>
              </a:solidFill>
            </a:endParaRPr>
          </a:p>
        </p:txBody>
      </p:sp>
    </p:spTree>
    <p:extLst>
      <p:ext uri="{BB962C8B-B14F-4D97-AF65-F5344CB8AC3E}">
        <p14:creationId xmlns:p14="http://schemas.microsoft.com/office/powerpoint/2010/main" val="4292175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FA580-4050-2CED-E1AD-BE729BF8B7EF}"/>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A018B15A-5F4A-DE00-6EFE-015F06D6FE6C}"/>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75ED11C1-02BA-51BE-D4E1-E2F831C315A8}"/>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96D697A0-FC9F-33E5-CE63-C6C9FA6B071B}"/>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graphicFrame>
        <p:nvGraphicFramePr>
          <p:cNvPr id="4" name="Table 3">
            <a:extLst>
              <a:ext uri="{FF2B5EF4-FFF2-40B4-BE49-F238E27FC236}">
                <a16:creationId xmlns:a16="http://schemas.microsoft.com/office/drawing/2014/main" id="{3AE9318A-22D8-05A5-35DE-54D0DDD9F33E}"/>
              </a:ext>
            </a:extLst>
          </p:cNvPr>
          <p:cNvGraphicFramePr>
            <a:graphicFrameLocks noGrp="1"/>
          </p:cNvGraphicFramePr>
          <p:nvPr>
            <p:extLst>
              <p:ext uri="{D42A27DB-BD31-4B8C-83A1-F6EECF244321}">
                <p14:modId xmlns:p14="http://schemas.microsoft.com/office/powerpoint/2010/main" val="1300350404"/>
              </p:ext>
            </p:extLst>
          </p:nvPr>
        </p:nvGraphicFramePr>
        <p:xfrm>
          <a:off x="180252" y="2938040"/>
          <a:ext cx="11831497" cy="2489200"/>
        </p:xfrm>
        <a:graphic>
          <a:graphicData uri="http://schemas.openxmlformats.org/drawingml/2006/table">
            <a:tbl>
              <a:tblPr firstRow="1" bandRow="1">
                <a:tableStyleId>{5C22544A-7EE6-4342-B048-85BDC9FD1C3A}</a:tableStyleId>
              </a:tblPr>
              <a:tblGrid>
                <a:gridCol w="2937052">
                  <a:extLst>
                    <a:ext uri="{9D8B030D-6E8A-4147-A177-3AD203B41FA5}">
                      <a16:colId xmlns:a16="http://schemas.microsoft.com/office/drawing/2014/main" val="1408657610"/>
                    </a:ext>
                  </a:extLst>
                </a:gridCol>
                <a:gridCol w="3578754">
                  <a:extLst>
                    <a:ext uri="{9D8B030D-6E8A-4147-A177-3AD203B41FA5}">
                      <a16:colId xmlns:a16="http://schemas.microsoft.com/office/drawing/2014/main" val="1161570137"/>
                    </a:ext>
                  </a:extLst>
                </a:gridCol>
                <a:gridCol w="2745792">
                  <a:extLst>
                    <a:ext uri="{9D8B030D-6E8A-4147-A177-3AD203B41FA5}">
                      <a16:colId xmlns:a16="http://schemas.microsoft.com/office/drawing/2014/main" val="1117292803"/>
                    </a:ext>
                  </a:extLst>
                </a:gridCol>
                <a:gridCol w="2569899">
                  <a:extLst>
                    <a:ext uri="{9D8B030D-6E8A-4147-A177-3AD203B41FA5}">
                      <a16:colId xmlns:a16="http://schemas.microsoft.com/office/drawing/2014/main" val="2771959580"/>
                    </a:ext>
                  </a:extLst>
                </a:gridCol>
              </a:tblGrid>
              <a:tr h="370840">
                <a:tc>
                  <a:txBody>
                    <a:bodyPr/>
                    <a:lstStyle/>
                    <a:p>
                      <a:pPr algn="ctr"/>
                      <a:r>
                        <a:rPr lang="en-US" b="1" dirty="0">
                          <a:latin typeface="+mj-lt"/>
                        </a:rPr>
                        <a:t>Objectives</a:t>
                      </a:r>
                    </a:p>
                  </a:txBody>
                  <a:tcPr/>
                </a:tc>
                <a:tc>
                  <a:txBody>
                    <a:bodyPr/>
                    <a:lstStyle/>
                    <a:p>
                      <a:pPr algn="ctr"/>
                      <a:r>
                        <a:rPr lang="en-US" b="1" dirty="0">
                          <a:latin typeface="+mj-lt"/>
                        </a:rPr>
                        <a:t>Methodology</a:t>
                      </a:r>
                    </a:p>
                  </a:txBody>
                  <a:tcPr/>
                </a:tc>
                <a:tc>
                  <a:txBody>
                    <a:bodyPr/>
                    <a:lstStyle/>
                    <a:p>
                      <a:pPr algn="ctr"/>
                      <a:r>
                        <a:rPr lang="en-US" b="1" dirty="0">
                          <a:latin typeface="+mj-lt"/>
                        </a:rPr>
                        <a:t>Results &amp; Conclusion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mn-lt"/>
                          <a:ea typeface="+mn-ea"/>
                          <a:cs typeface="+mn-cs"/>
                        </a:rPr>
                        <a:t>Limitations</a:t>
                      </a:r>
                    </a:p>
                  </a:txBody>
                  <a:tcPr/>
                </a:tc>
                <a:extLst>
                  <a:ext uri="{0D108BD9-81ED-4DB2-BD59-A6C34878D82A}">
                    <a16:rowId xmlns:a16="http://schemas.microsoft.com/office/drawing/2014/main" val="919285552"/>
                  </a:ext>
                </a:extLst>
              </a:tr>
              <a:tr h="370840">
                <a:tc>
                  <a:txBody>
                    <a:bodyPr/>
                    <a:lstStyle/>
                    <a:p>
                      <a:pPr>
                        <a:spcAft>
                          <a:spcPts val="600"/>
                        </a:spcAft>
                      </a:pPr>
                      <a:r>
                        <a:rPr lang="en-US" sz="1600" dirty="0"/>
                        <a:t>To study the impact of various anonymization techniques on the performance of computer vision models.</a:t>
                      </a:r>
                    </a:p>
                    <a:p>
                      <a:pPr>
                        <a:spcAft>
                          <a:spcPts val="600"/>
                        </a:spcAft>
                      </a:pPr>
                      <a:r>
                        <a:rPr lang="en-US" sz="1600" dirty="0"/>
                        <a:t>Focus on privacy-preserving methods in face detection and recognition.</a:t>
                      </a:r>
                    </a:p>
                  </a:txBody>
                  <a:tcPr/>
                </a:tc>
                <a:tc>
                  <a:txBody>
                    <a:bodyPr/>
                    <a:lstStyle/>
                    <a:p>
                      <a:pPr>
                        <a:spcAft>
                          <a:spcPts val="600"/>
                        </a:spcAft>
                      </a:pPr>
                      <a:r>
                        <a:rPr lang="en-US" sz="1600" dirty="0"/>
                        <a:t>Evaluate image obfuscation and deep learning-based anonymization methods (</a:t>
                      </a:r>
                      <a:r>
                        <a:rPr lang="en-US" sz="1600" dirty="0" err="1"/>
                        <a:t>DeepPrivacy</a:t>
                      </a:r>
                      <a:r>
                        <a:rPr lang="en-US" sz="1600" dirty="0"/>
                        <a:t>, CIAGAN, DeepPrivacy2) on face datasets.</a:t>
                      </a:r>
                    </a:p>
                    <a:p>
                      <a:pPr>
                        <a:spcAft>
                          <a:spcPts val="600"/>
                        </a:spcAft>
                      </a:pPr>
                      <a:r>
                        <a:rPr lang="en-US" sz="1600" dirty="0"/>
                        <a:t>Assess their impact on detection and recognition accuracy, using transfer learning to minimize performance loss.</a:t>
                      </a:r>
                    </a:p>
                  </a:txBody>
                  <a:tcPr/>
                </a:tc>
                <a:tc>
                  <a:txBody>
                    <a:bodyPr/>
                    <a:lstStyle/>
                    <a:p>
                      <a:pPr>
                        <a:spcAft>
                          <a:spcPts val="600"/>
                        </a:spcAft>
                      </a:pPr>
                      <a:r>
                        <a:rPr lang="en-US" sz="1600" dirty="0"/>
                        <a:t>Realistic anonymization enables privacy-preserving model training with minimal accuracy loss.</a:t>
                      </a:r>
                    </a:p>
                    <a:p>
                      <a:pPr>
                        <a:spcAft>
                          <a:spcPts val="600"/>
                        </a:spcAft>
                      </a:pPr>
                      <a:r>
                        <a:rPr lang="en-US" sz="1600" dirty="0"/>
                        <a:t>Allows anonymized data to serve as a practical alternative to original datasets.</a:t>
                      </a:r>
                    </a:p>
                  </a:txBody>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t>Utility drops of up to 28 AP points highlight the difficulty of balancing privacy and performance.</a:t>
                      </a: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t>Indicates trade-off challenges, though specific limitations are not explicitly detailed.</a:t>
                      </a:r>
                    </a:p>
                  </a:txBody>
                  <a:tcPr/>
                </a:tc>
                <a:extLst>
                  <a:ext uri="{0D108BD9-81ED-4DB2-BD59-A6C34878D82A}">
                    <a16:rowId xmlns:a16="http://schemas.microsoft.com/office/drawing/2014/main" val="1047809286"/>
                  </a:ext>
                </a:extLst>
              </a:tr>
            </a:tbl>
          </a:graphicData>
        </a:graphic>
      </p:graphicFrame>
      <p:sp>
        <p:nvSpPr>
          <p:cNvPr id="7" name="Slide Number Placeholder 6">
            <a:extLst>
              <a:ext uri="{FF2B5EF4-FFF2-40B4-BE49-F238E27FC236}">
                <a16:creationId xmlns:a16="http://schemas.microsoft.com/office/drawing/2014/main" id="{87B7B0DD-8942-E61D-3C3B-5EE460CCB2BE}"/>
              </a:ext>
            </a:extLst>
          </p:cNvPr>
          <p:cNvSpPr>
            <a:spLocks noGrp="1"/>
          </p:cNvSpPr>
          <p:nvPr>
            <p:ph type="sldNum" sz="quarter" idx="12"/>
          </p:nvPr>
        </p:nvSpPr>
        <p:spPr>
          <a:xfrm>
            <a:off x="5956819" y="6466302"/>
            <a:ext cx="278363" cy="365125"/>
          </a:xfrm>
        </p:spPr>
        <p:txBody>
          <a:bodyPr/>
          <a:lstStyle/>
          <a:p>
            <a:fld id="{565CE74E-AB26-4998-AD42-012C4C1AD076}" type="slidenum">
              <a:rPr lang="zh-CN" altLang="en-US" b="1" smtClean="0">
                <a:solidFill>
                  <a:srgbClr val="203864"/>
                </a:solidFill>
              </a:rPr>
              <a:t>5</a:t>
            </a:fld>
            <a:endParaRPr lang="zh-CN" altLang="en-US" b="1" dirty="0">
              <a:solidFill>
                <a:srgbClr val="203864"/>
              </a:solidFill>
            </a:endParaRPr>
          </a:p>
        </p:txBody>
      </p:sp>
      <p:sp>
        <p:nvSpPr>
          <p:cNvPr id="8" name="文本框 1">
            <a:extLst>
              <a:ext uri="{FF2B5EF4-FFF2-40B4-BE49-F238E27FC236}">
                <a16:creationId xmlns:a16="http://schemas.microsoft.com/office/drawing/2014/main" id="{5E097F37-D75A-80F4-53B1-AEF60813DB75}"/>
              </a:ext>
            </a:extLst>
          </p:cNvPr>
          <p:cNvSpPr txBox="1"/>
          <p:nvPr/>
        </p:nvSpPr>
        <p:spPr>
          <a:xfrm>
            <a:off x="320674" y="219075"/>
            <a:ext cx="8207505"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r>
              <a:rPr lang="en-US" sz="4400" dirty="0">
                <a:solidFill>
                  <a:srgbClr val="203864"/>
                </a:solidFill>
                <a:latin typeface="Times New Roman" panose="02020603050405020304" charset="0"/>
                <a:cs typeface="Times New Roman" panose="02020603050405020304" charset="0"/>
                <a:sym typeface="+mn-ea"/>
              </a:rPr>
              <a:t>LITERATURE REVIEW</a:t>
            </a:r>
            <a:endParaRPr lang="en-US"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11" name="文本框 8">
            <a:extLst>
              <a:ext uri="{FF2B5EF4-FFF2-40B4-BE49-F238E27FC236}">
                <a16:creationId xmlns:a16="http://schemas.microsoft.com/office/drawing/2014/main" id="{C24A8CD6-B7EC-40FB-A8F9-68806FC43D07}"/>
              </a:ext>
            </a:extLst>
          </p:cNvPr>
          <p:cNvSpPr txBox="1"/>
          <p:nvPr/>
        </p:nvSpPr>
        <p:spPr>
          <a:xfrm>
            <a:off x="320674" y="1316390"/>
            <a:ext cx="11017886" cy="954107"/>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Title: Does Image Anonymization Impact Computer Vision Training? [2]</a:t>
            </a:r>
          </a:p>
        </p:txBody>
      </p:sp>
    </p:spTree>
    <p:extLst>
      <p:ext uri="{BB962C8B-B14F-4D97-AF65-F5344CB8AC3E}">
        <p14:creationId xmlns:p14="http://schemas.microsoft.com/office/powerpoint/2010/main" val="3642596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1FCD0-9E88-8E70-FE0E-244A06D4E5D9}"/>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710DC4D6-AA00-1E3F-3214-4FEB0D8B8342}"/>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FE057749-E53F-39FC-B20A-002C80B0B65F}"/>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C1E57E78-FFC5-456A-2CDF-E498D6D79533}"/>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6" name="文本框 1">
            <a:extLst>
              <a:ext uri="{FF2B5EF4-FFF2-40B4-BE49-F238E27FC236}">
                <a16:creationId xmlns:a16="http://schemas.microsoft.com/office/drawing/2014/main" id="{48BD7077-BFFA-7095-6C91-240BE267570D}"/>
              </a:ext>
            </a:extLst>
          </p:cNvPr>
          <p:cNvSpPr txBox="1"/>
          <p:nvPr/>
        </p:nvSpPr>
        <p:spPr>
          <a:xfrm>
            <a:off x="320674" y="219075"/>
            <a:ext cx="8207505"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r>
              <a:rPr lang="en-US" sz="4400" dirty="0">
                <a:solidFill>
                  <a:srgbClr val="203864"/>
                </a:solidFill>
                <a:latin typeface="Times New Roman" panose="02020603050405020304" charset="0"/>
                <a:cs typeface="Times New Roman" panose="02020603050405020304" charset="0"/>
                <a:sym typeface="+mn-ea"/>
              </a:rPr>
              <a:t>LITERATURE REVIEW </a:t>
            </a:r>
            <a:r>
              <a:rPr lang="en-US" altLang="zh-CN" sz="4400" cap="all" dirty="0">
                <a:solidFill>
                  <a:srgbClr val="203864"/>
                </a:solidFill>
                <a:latin typeface="Times New Roman" panose="02020603050405020304" charset="0"/>
                <a:ea typeface="Roboto Light" panose="02000000000000000000" charset="0"/>
                <a:cs typeface="Times New Roman" panose="02020603050405020304" charset="0"/>
                <a:sym typeface="+mn-ea"/>
              </a:rPr>
              <a:t>(Cont.)</a:t>
            </a:r>
            <a:endParaRPr lang="en-US"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2" name="Slide Number Placeholder 1">
            <a:extLst>
              <a:ext uri="{FF2B5EF4-FFF2-40B4-BE49-F238E27FC236}">
                <a16:creationId xmlns:a16="http://schemas.microsoft.com/office/drawing/2014/main" id="{923CDC48-6D21-3C1A-41B0-F694367FCA08}"/>
              </a:ext>
            </a:extLst>
          </p:cNvPr>
          <p:cNvSpPr>
            <a:spLocks noGrp="1"/>
          </p:cNvSpPr>
          <p:nvPr>
            <p:ph type="sldNum" sz="quarter" idx="12"/>
          </p:nvPr>
        </p:nvSpPr>
        <p:spPr>
          <a:xfrm>
            <a:off x="5952153" y="6465693"/>
            <a:ext cx="287694" cy="365125"/>
          </a:xfrm>
        </p:spPr>
        <p:txBody>
          <a:bodyPr/>
          <a:lstStyle/>
          <a:p>
            <a:fld id="{565CE74E-AB26-4998-AD42-012C4C1AD076}" type="slidenum">
              <a:rPr lang="zh-CN" altLang="en-US" b="1" smtClean="0">
                <a:solidFill>
                  <a:srgbClr val="203864"/>
                </a:solidFill>
              </a:rPr>
              <a:t>6</a:t>
            </a:fld>
            <a:endParaRPr lang="zh-CN" altLang="en-US" b="1" dirty="0">
              <a:solidFill>
                <a:srgbClr val="203864"/>
              </a:solidFill>
            </a:endParaRPr>
          </a:p>
        </p:txBody>
      </p:sp>
      <p:sp>
        <p:nvSpPr>
          <p:cNvPr id="3" name="文本框 8">
            <a:extLst>
              <a:ext uri="{FF2B5EF4-FFF2-40B4-BE49-F238E27FC236}">
                <a16:creationId xmlns:a16="http://schemas.microsoft.com/office/drawing/2014/main" id="{5F0C3729-CE7B-BAAA-F17C-0979A02AC5AF}"/>
              </a:ext>
            </a:extLst>
          </p:cNvPr>
          <p:cNvSpPr txBox="1"/>
          <p:nvPr/>
        </p:nvSpPr>
        <p:spPr>
          <a:xfrm>
            <a:off x="320674" y="1316390"/>
            <a:ext cx="11017886" cy="954107"/>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Title: Fairly Private: Investigating The Fairness of Visual Privacy Preservation Algorithms [3]</a:t>
            </a:r>
          </a:p>
        </p:txBody>
      </p:sp>
      <p:graphicFrame>
        <p:nvGraphicFramePr>
          <p:cNvPr id="7" name="Table 6">
            <a:extLst>
              <a:ext uri="{FF2B5EF4-FFF2-40B4-BE49-F238E27FC236}">
                <a16:creationId xmlns:a16="http://schemas.microsoft.com/office/drawing/2014/main" id="{247A3C45-2827-5BCA-D9B3-C0224AD54C7F}"/>
              </a:ext>
            </a:extLst>
          </p:cNvPr>
          <p:cNvGraphicFramePr>
            <a:graphicFrameLocks noGrp="1"/>
          </p:cNvGraphicFramePr>
          <p:nvPr>
            <p:extLst>
              <p:ext uri="{D42A27DB-BD31-4B8C-83A1-F6EECF244321}">
                <p14:modId xmlns:p14="http://schemas.microsoft.com/office/powerpoint/2010/main" val="1723516944"/>
              </p:ext>
            </p:extLst>
          </p:nvPr>
        </p:nvGraphicFramePr>
        <p:xfrm>
          <a:off x="180252" y="2938040"/>
          <a:ext cx="11831497" cy="2733040"/>
        </p:xfrm>
        <a:graphic>
          <a:graphicData uri="http://schemas.openxmlformats.org/drawingml/2006/table">
            <a:tbl>
              <a:tblPr firstRow="1" bandRow="1">
                <a:tableStyleId>{5C22544A-7EE6-4342-B048-85BDC9FD1C3A}</a:tableStyleId>
              </a:tblPr>
              <a:tblGrid>
                <a:gridCol w="2937052">
                  <a:extLst>
                    <a:ext uri="{9D8B030D-6E8A-4147-A177-3AD203B41FA5}">
                      <a16:colId xmlns:a16="http://schemas.microsoft.com/office/drawing/2014/main" val="1408657610"/>
                    </a:ext>
                  </a:extLst>
                </a:gridCol>
                <a:gridCol w="3578754">
                  <a:extLst>
                    <a:ext uri="{9D8B030D-6E8A-4147-A177-3AD203B41FA5}">
                      <a16:colId xmlns:a16="http://schemas.microsoft.com/office/drawing/2014/main" val="1161570137"/>
                    </a:ext>
                  </a:extLst>
                </a:gridCol>
                <a:gridCol w="2745792">
                  <a:extLst>
                    <a:ext uri="{9D8B030D-6E8A-4147-A177-3AD203B41FA5}">
                      <a16:colId xmlns:a16="http://schemas.microsoft.com/office/drawing/2014/main" val="1117292803"/>
                    </a:ext>
                  </a:extLst>
                </a:gridCol>
                <a:gridCol w="2569899">
                  <a:extLst>
                    <a:ext uri="{9D8B030D-6E8A-4147-A177-3AD203B41FA5}">
                      <a16:colId xmlns:a16="http://schemas.microsoft.com/office/drawing/2014/main" val="2771959580"/>
                    </a:ext>
                  </a:extLst>
                </a:gridCol>
              </a:tblGrid>
              <a:tr h="370840">
                <a:tc>
                  <a:txBody>
                    <a:bodyPr/>
                    <a:lstStyle/>
                    <a:p>
                      <a:pPr algn="ctr"/>
                      <a:r>
                        <a:rPr lang="en-US" b="1" dirty="0">
                          <a:latin typeface="+mj-lt"/>
                        </a:rPr>
                        <a:t>Objectives</a:t>
                      </a:r>
                    </a:p>
                  </a:txBody>
                  <a:tcPr/>
                </a:tc>
                <a:tc>
                  <a:txBody>
                    <a:bodyPr/>
                    <a:lstStyle/>
                    <a:p>
                      <a:pPr algn="ctr"/>
                      <a:r>
                        <a:rPr lang="en-US" b="1" dirty="0">
                          <a:latin typeface="+mj-lt"/>
                        </a:rPr>
                        <a:t>Methodology</a:t>
                      </a:r>
                    </a:p>
                  </a:txBody>
                  <a:tcPr/>
                </a:tc>
                <a:tc>
                  <a:txBody>
                    <a:bodyPr/>
                    <a:lstStyle/>
                    <a:p>
                      <a:pPr algn="ctr"/>
                      <a:r>
                        <a:rPr lang="en-US" b="1" dirty="0">
                          <a:latin typeface="+mj-lt"/>
                        </a:rPr>
                        <a:t>Results &amp; Conclusion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mn-lt"/>
                          <a:ea typeface="+mn-ea"/>
                          <a:cs typeface="+mn-cs"/>
                        </a:rPr>
                        <a:t>Limitations</a:t>
                      </a:r>
                    </a:p>
                  </a:txBody>
                  <a:tcPr/>
                </a:tc>
                <a:extLst>
                  <a:ext uri="{0D108BD9-81ED-4DB2-BD59-A6C34878D82A}">
                    <a16:rowId xmlns:a16="http://schemas.microsoft.com/office/drawing/2014/main" val="919285552"/>
                  </a:ext>
                </a:extLst>
              </a:tr>
              <a:tr h="370840">
                <a:tc>
                  <a:txBody>
                    <a:bodyPr/>
                    <a:lstStyle/>
                    <a:p>
                      <a:pPr>
                        <a:spcAft>
                          <a:spcPts val="600"/>
                        </a:spcAft>
                      </a:pPr>
                      <a:r>
                        <a:rPr lang="en-US" sz="1600" dirty="0"/>
                        <a:t>To assess the fairness of privacy-preserving algorithms across demographic groups (race, gender) in facial recognition, and identify biases introduced by obfuscation techniques.</a:t>
                      </a:r>
                    </a:p>
                  </a:txBody>
                  <a:tcPr/>
                </a:tc>
                <a:tc>
                  <a:txBody>
                    <a:bodyPr/>
                    <a:lstStyle/>
                    <a:p>
                      <a:pPr>
                        <a:spcAft>
                          <a:spcPts val="600"/>
                        </a:spcAft>
                      </a:pPr>
                      <a:r>
                        <a:rPr lang="en-US" sz="1600" dirty="0"/>
                        <a:t>Use the </a:t>
                      </a:r>
                      <a:r>
                        <a:rPr lang="en-US" sz="1600" dirty="0" err="1"/>
                        <a:t>PubFig</a:t>
                      </a:r>
                      <a:r>
                        <a:rPr lang="en-US" sz="1600" dirty="0"/>
                        <a:t> dataset (80% </a:t>
                      </a:r>
                      <a:r>
                        <a:rPr lang="en-US" sz="1600" dirty="0" err="1"/>
                        <a:t>unobfuscated</a:t>
                      </a:r>
                      <a:r>
                        <a:rPr lang="en-US" sz="1600" dirty="0"/>
                        <a:t>, 20% obfuscated) to evaluate fairness impacts of obfuscation.</a:t>
                      </a:r>
                    </a:p>
                    <a:p>
                      <a:pPr>
                        <a:spcAft>
                          <a:spcPts val="600"/>
                        </a:spcAft>
                      </a:pPr>
                      <a:r>
                        <a:rPr lang="en-US" sz="1600" dirty="0"/>
                        <a:t>Train classifiers (KNN, Naïve Bayes, SVC, MLP) on </a:t>
                      </a:r>
                      <a:r>
                        <a:rPr lang="en-US" sz="1600" dirty="0" err="1"/>
                        <a:t>unobfuscated</a:t>
                      </a:r>
                      <a:r>
                        <a:rPr lang="en-US" sz="1600" dirty="0"/>
                        <a:t> data and assess fairness metrics (accuracy, precision, recall, F1, PDR) on obfuscated samples.</a:t>
                      </a:r>
                    </a:p>
                  </a:txBody>
                  <a:tcPr/>
                </a:tc>
                <a:tc>
                  <a:txBody>
                    <a:bodyPr/>
                    <a:lstStyle/>
                    <a:p>
                      <a:pPr>
                        <a:spcAft>
                          <a:spcPts val="600"/>
                        </a:spcAft>
                      </a:pPr>
                      <a:r>
                        <a:rPr lang="en-US" sz="1600" dirty="0"/>
                        <a:t>Obfuscation provides unequal privacy protection across groups, with biases in recognition performance on the </a:t>
                      </a:r>
                      <a:r>
                        <a:rPr lang="en-US" sz="1600" dirty="0" err="1"/>
                        <a:t>PubFig</a:t>
                      </a:r>
                      <a:r>
                        <a:rPr lang="en-US" sz="1600" dirty="0"/>
                        <a:t> dataset, highlighting the need for fairness-aware privacy techniques.</a:t>
                      </a:r>
                    </a:p>
                  </a:txBody>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t>Imbalanced dataset (</a:t>
                      </a:r>
                      <a:r>
                        <a:rPr lang="en-US" sz="1600" dirty="0" err="1"/>
                        <a:t>PubFig</a:t>
                      </a:r>
                      <a:r>
                        <a:rPr lang="en-US" sz="1600" dirty="0"/>
                        <a:t>, majority white) limits demographic analysis; iterative obfuscation unsuitable for real-time; restricted image distribution hinders reproducibility.</a:t>
                      </a:r>
                    </a:p>
                  </a:txBody>
                  <a:tcPr/>
                </a:tc>
                <a:extLst>
                  <a:ext uri="{0D108BD9-81ED-4DB2-BD59-A6C34878D82A}">
                    <a16:rowId xmlns:a16="http://schemas.microsoft.com/office/drawing/2014/main" val="1047809286"/>
                  </a:ext>
                </a:extLst>
              </a:tr>
            </a:tbl>
          </a:graphicData>
        </a:graphic>
      </p:graphicFrame>
    </p:spTree>
    <p:extLst>
      <p:ext uri="{BB962C8B-B14F-4D97-AF65-F5344CB8AC3E}">
        <p14:creationId xmlns:p14="http://schemas.microsoft.com/office/powerpoint/2010/main" val="2328398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E957A-DAA1-35C5-2284-CC953099AB57}"/>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ACFB44C6-8295-84D2-831F-9DF25EF79800}"/>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8D9B155F-EB26-DCB6-20FA-2CB59E81D1B2}"/>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C86C8B7C-CEDB-5270-D882-CCEA2ACB3580}"/>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6" name="文本框 1">
            <a:extLst>
              <a:ext uri="{FF2B5EF4-FFF2-40B4-BE49-F238E27FC236}">
                <a16:creationId xmlns:a16="http://schemas.microsoft.com/office/drawing/2014/main" id="{E06B3D55-E80F-302F-5C89-8FCDAD8A7224}"/>
              </a:ext>
            </a:extLst>
          </p:cNvPr>
          <p:cNvSpPr txBox="1"/>
          <p:nvPr/>
        </p:nvSpPr>
        <p:spPr>
          <a:xfrm>
            <a:off x="320674" y="219075"/>
            <a:ext cx="8207505"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r>
              <a:rPr lang="en-US" sz="4400" dirty="0">
                <a:solidFill>
                  <a:srgbClr val="203864"/>
                </a:solidFill>
                <a:latin typeface="Times New Roman" panose="02020603050405020304" charset="0"/>
                <a:cs typeface="Times New Roman" panose="02020603050405020304" charset="0"/>
                <a:sym typeface="+mn-ea"/>
              </a:rPr>
              <a:t>LITERATURE REVIEW </a:t>
            </a:r>
            <a:r>
              <a:rPr lang="en-US" altLang="zh-CN" sz="4400" cap="all" dirty="0">
                <a:solidFill>
                  <a:srgbClr val="203864"/>
                </a:solidFill>
                <a:latin typeface="Times New Roman" panose="02020603050405020304" charset="0"/>
                <a:ea typeface="Roboto Light" panose="02000000000000000000" charset="0"/>
                <a:cs typeface="Times New Roman" panose="02020603050405020304" charset="0"/>
                <a:sym typeface="+mn-ea"/>
              </a:rPr>
              <a:t>(Cont.)</a:t>
            </a:r>
            <a:endParaRPr lang="en-US"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2" name="Slide Number Placeholder 1">
            <a:extLst>
              <a:ext uri="{FF2B5EF4-FFF2-40B4-BE49-F238E27FC236}">
                <a16:creationId xmlns:a16="http://schemas.microsoft.com/office/drawing/2014/main" id="{A3E45DEC-2245-8BAF-587A-01B5D055E1E5}"/>
              </a:ext>
            </a:extLst>
          </p:cNvPr>
          <p:cNvSpPr>
            <a:spLocks noGrp="1"/>
          </p:cNvSpPr>
          <p:nvPr>
            <p:ph type="sldNum" sz="quarter" idx="12"/>
          </p:nvPr>
        </p:nvSpPr>
        <p:spPr>
          <a:xfrm>
            <a:off x="5952153" y="6465693"/>
            <a:ext cx="287694" cy="365125"/>
          </a:xfrm>
        </p:spPr>
        <p:txBody>
          <a:bodyPr/>
          <a:lstStyle/>
          <a:p>
            <a:fld id="{565CE74E-AB26-4998-AD42-012C4C1AD076}" type="slidenum">
              <a:rPr lang="zh-CN" altLang="en-US" b="1" smtClean="0">
                <a:solidFill>
                  <a:srgbClr val="203864"/>
                </a:solidFill>
              </a:rPr>
              <a:t>7</a:t>
            </a:fld>
            <a:endParaRPr lang="zh-CN" altLang="en-US" b="1" dirty="0">
              <a:solidFill>
                <a:srgbClr val="203864"/>
              </a:solidFill>
            </a:endParaRPr>
          </a:p>
        </p:txBody>
      </p:sp>
      <p:sp>
        <p:nvSpPr>
          <p:cNvPr id="3" name="文本框 8">
            <a:extLst>
              <a:ext uri="{FF2B5EF4-FFF2-40B4-BE49-F238E27FC236}">
                <a16:creationId xmlns:a16="http://schemas.microsoft.com/office/drawing/2014/main" id="{58BD9A18-004C-1F0A-C8D3-AE31C98D04B4}"/>
              </a:ext>
            </a:extLst>
          </p:cNvPr>
          <p:cNvSpPr txBox="1"/>
          <p:nvPr/>
        </p:nvSpPr>
        <p:spPr>
          <a:xfrm>
            <a:off x="320674" y="1316390"/>
            <a:ext cx="11017886" cy="954107"/>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Title: Accurate Image-Based Pedestrian Detection With Privacy Preservation [4]</a:t>
            </a:r>
          </a:p>
        </p:txBody>
      </p:sp>
      <p:graphicFrame>
        <p:nvGraphicFramePr>
          <p:cNvPr id="7" name="Table 6">
            <a:extLst>
              <a:ext uri="{FF2B5EF4-FFF2-40B4-BE49-F238E27FC236}">
                <a16:creationId xmlns:a16="http://schemas.microsoft.com/office/drawing/2014/main" id="{914CE198-0F34-F0CF-7D2D-764BA5B38DFF}"/>
              </a:ext>
            </a:extLst>
          </p:cNvPr>
          <p:cNvGraphicFramePr>
            <a:graphicFrameLocks noGrp="1"/>
          </p:cNvGraphicFramePr>
          <p:nvPr>
            <p:extLst>
              <p:ext uri="{D42A27DB-BD31-4B8C-83A1-F6EECF244321}">
                <p14:modId xmlns:p14="http://schemas.microsoft.com/office/powerpoint/2010/main" val="847200850"/>
              </p:ext>
            </p:extLst>
          </p:nvPr>
        </p:nvGraphicFramePr>
        <p:xfrm>
          <a:off x="180252" y="2938040"/>
          <a:ext cx="11831497" cy="2733040"/>
        </p:xfrm>
        <a:graphic>
          <a:graphicData uri="http://schemas.openxmlformats.org/drawingml/2006/table">
            <a:tbl>
              <a:tblPr firstRow="1" bandRow="1">
                <a:tableStyleId>{5C22544A-7EE6-4342-B048-85BDC9FD1C3A}</a:tableStyleId>
              </a:tblPr>
              <a:tblGrid>
                <a:gridCol w="2937052">
                  <a:extLst>
                    <a:ext uri="{9D8B030D-6E8A-4147-A177-3AD203B41FA5}">
                      <a16:colId xmlns:a16="http://schemas.microsoft.com/office/drawing/2014/main" val="1408657610"/>
                    </a:ext>
                  </a:extLst>
                </a:gridCol>
                <a:gridCol w="3578754">
                  <a:extLst>
                    <a:ext uri="{9D8B030D-6E8A-4147-A177-3AD203B41FA5}">
                      <a16:colId xmlns:a16="http://schemas.microsoft.com/office/drawing/2014/main" val="1161570137"/>
                    </a:ext>
                  </a:extLst>
                </a:gridCol>
                <a:gridCol w="2745792">
                  <a:extLst>
                    <a:ext uri="{9D8B030D-6E8A-4147-A177-3AD203B41FA5}">
                      <a16:colId xmlns:a16="http://schemas.microsoft.com/office/drawing/2014/main" val="1117292803"/>
                    </a:ext>
                  </a:extLst>
                </a:gridCol>
                <a:gridCol w="2569899">
                  <a:extLst>
                    <a:ext uri="{9D8B030D-6E8A-4147-A177-3AD203B41FA5}">
                      <a16:colId xmlns:a16="http://schemas.microsoft.com/office/drawing/2014/main" val="2771959580"/>
                    </a:ext>
                  </a:extLst>
                </a:gridCol>
              </a:tblGrid>
              <a:tr h="370840">
                <a:tc>
                  <a:txBody>
                    <a:bodyPr/>
                    <a:lstStyle/>
                    <a:p>
                      <a:pPr algn="ctr"/>
                      <a:r>
                        <a:rPr lang="en-US" b="1" dirty="0">
                          <a:latin typeface="+mj-lt"/>
                        </a:rPr>
                        <a:t>Objectives</a:t>
                      </a:r>
                    </a:p>
                  </a:txBody>
                  <a:tcPr/>
                </a:tc>
                <a:tc>
                  <a:txBody>
                    <a:bodyPr/>
                    <a:lstStyle/>
                    <a:p>
                      <a:pPr algn="ctr"/>
                      <a:r>
                        <a:rPr lang="en-US" b="1" dirty="0">
                          <a:latin typeface="+mj-lt"/>
                        </a:rPr>
                        <a:t>Methodology</a:t>
                      </a:r>
                    </a:p>
                  </a:txBody>
                  <a:tcPr/>
                </a:tc>
                <a:tc>
                  <a:txBody>
                    <a:bodyPr/>
                    <a:lstStyle/>
                    <a:p>
                      <a:pPr algn="ctr"/>
                      <a:r>
                        <a:rPr lang="en-US" b="1" dirty="0">
                          <a:latin typeface="+mj-lt"/>
                        </a:rPr>
                        <a:t>Results &amp; Conclusion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mn-lt"/>
                          <a:ea typeface="+mn-ea"/>
                          <a:cs typeface="+mn-cs"/>
                        </a:rPr>
                        <a:t>Limitations</a:t>
                      </a:r>
                    </a:p>
                  </a:txBody>
                  <a:tcPr/>
                </a:tc>
                <a:extLst>
                  <a:ext uri="{0D108BD9-81ED-4DB2-BD59-A6C34878D82A}">
                    <a16:rowId xmlns:a16="http://schemas.microsoft.com/office/drawing/2014/main" val="919285552"/>
                  </a:ext>
                </a:extLst>
              </a:tr>
              <a:tr h="370840">
                <a:tc>
                  <a:txBody>
                    <a:bodyPr/>
                    <a:lstStyle/>
                    <a:p>
                      <a:pPr>
                        <a:spcAft>
                          <a:spcPts val="600"/>
                        </a:spcAft>
                      </a:pPr>
                      <a:r>
                        <a:rPr lang="en-US" sz="1600" dirty="0"/>
                        <a:t>To develop a privacy-preserving pedestrian detection scheme that maintains high accuracy with reduced computation and communication costs.</a:t>
                      </a:r>
                    </a:p>
                  </a:txBody>
                  <a:tcPr/>
                </a:tc>
                <a:tc>
                  <a:txBody>
                    <a:bodyPr/>
                    <a:lstStyle/>
                    <a:p>
                      <a:pPr>
                        <a:spcAft>
                          <a:spcPts val="600"/>
                        </a:spcAft>
                      </a:pPr>
                      <a:r>
                        <a:rPr lang="en-US" sz="1600" dirty="0"/>
                        <a:t>Propose the PPPD scheme using Vector Homomorphic Encryption (VHE) for privacy-preserving HOG feature extraction and SVM training on encrypted images.</a:t>
                      </a:r>
                    </a:p>
                    <a:p>
                      <a:pPr>
                        <a:spcAft>
                          <a:spcPts val="600"/>
                        </a:spcAft>
                      </a:pPr>
                      <a:r>
                        <a:rPr lang="en-US" sz="1600" dirty="0"/>
                        <a:t>Enable encrypted kernel matrix construction (linear, polynomial, Gaussian) without decrypting features.</a:t>
                      </a:r>
                    </a:p>
                  </a:txBody>
                  <a:tcPr/>
                </a:tc>
                <a:tc>
                  <a:txBody>
                    <a:bodyPr/>
                    <a:lstStyle/>
                    <a:p>
                      <a:pPr>
                        <a:spcAft>
                          <a:spcPts val="600"/>
                        </a:spcAft>
                      </a:pPr>
                      <a:r>
                        <a:rPr lang="en-US" sz="1600" dirty="0"/>
                        <a:t>Achieves high accuracy with lower computational overhead than existing methods.</a:t>
                      </a:r>
                    </a:p>
                    <a:p>
                      <a:pPr>
                        <a:spcAft>
                          <a:spcPts val="600"/>
                        </a:spcAft>
                      </a:pPr>
                      <a:r>
                        <a:rPr lang="en-US" sz="1600" dirty="0"/>
                        <a:t>Ensures end-to-end privacy, making it suitable for real-world surveillance applications.</a:t>
                      </a:r>
                    </a:p>
                  </a:txBody>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dirty="0"/>
                        <a:t>Specific limitations not detailed; implied challenges in scalability or diverse condition robustness from dataset constraints.</a:t>
                      </a:r>
                    </a:p>
                  </a:txBody>
                  <a:tcPr/>
                </a:tc>
                <a:extLst>
                  <a:ext uri="{0D108BD9-81ED-4DB2-BD59-A6C34878D82A}">
                    <a16:rowId xmlns:a16="http://schemas.microsoft.com/office/drawing/2014/main" val="1047809286"/>
                  </a:ext>
                </a:extLst>
              </a:tr>
            </a:tbl>
          </a:graphicData>
        </a:graphic>
      </p:graphicFrame>
    </p:spTree>
    <p:extLst>
      <p:ext uri="{BB962C8B-B14F-4D97-AF65-F5344CB8AC3E}">
        <p14:creationId xmlns:p14="http://schemas.microsoft.com/office/powerpoint/2010/main" val="2790348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314C3-7006-2A06-6E54-AEA5C7B763C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CDA9779-A198-2F58-C76F-2B306F3257CE}"/>
              </a:ext>
            </a:extLst>
          </p:cNvPr>
          <p:cNvSpPr txBox="1"/>
          <p:nvPr/>
        </p:nvSpPr>
        <p:spPr>
          <a:xfrm>
            <a:off x="320675" y="200025"/>
            <a:ext cx="4711065"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Research Gap</a:t>
            </a:r>
          </a:p>
        </p:txBody>
      </p:sp>
      <p:sp>
        <p:nvSpPr>
          <p:cNvPr id="9" name="文本框 8">
            <a:extLst>
              <a:ext uri="{FF2B5EF4-FFF2-40B4-BE49-F238E27FC236}">
                <a16:creationId xmlns:a16="http://schemas.microsoft.com/office/drawing/2014/main" id="{9D7BAA7C-FD35-51E5-16E6-1A9F211E6530}"/>
              </a:ext>
            </a:extLst>
          </p:cNvPr>
          <p:cNvSpPr txBox="1"/>
          <p:nvPr/>
        </p:nvSpPr>
        <p:spPr>
          <a:xfrm>
            <a:off x="320675" y="1316390"/>
            <a:ext cx="6789252"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Research Gaps</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856A003E-ECF3-2D56-CA39-E29D62BE2AB8}"/>
              </a:ext>
            </a:extLst>
          </p:cNvPr>
          <p:cNvSpPr txBox="1"/>
          <p:nvPr/>
        </p:nvSpPr>
        <p:spPr>
          <a:xfrm>
            <a:off x="902970" y="1838360"/>
            <a:ext cx="10674985" cy="4207873"/>
          </a:xfrm>
          <a:prstGeom prst="rect">
            <a:avLst/>
          </a:prstGeom>
          <a:noFill/>
        </p:spPr>
        <p:txBody>
          <a:bodyPr wrap="square" rtlCol="0" anchor="t">
            <a:noAutofit/>
          </a:bodyPr>
          <a:lstStyle/>
          <a:p>
            <a:pPr marL="457200" indent="-457200" algn="just">
              <a:lnSpc>
                <a:spcPct val="130000"/>
              </a:lnSpc>
              <a:spcBef>
                <a:spcPts val="0"/>
              </a:spcBef>
              <a:spcAft>
                <a:spcPts val="0"/>
              </a:spcAft>
              <a:buFont typeface="+mj-lt"/>
              <a:buAutoNum type="arabicPeriod"/>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Current studies analyze only one of privacy or fairness separately [3].</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Analyze fairness in facial recognition separately from privacy preservation techniques (e.g., obfuscation), without integrating the two.</a:t>
            </a:r>
          </a:p>
          <a:p>
            <a:pPr marL="457200" indent="-457200" algn="just">
              <a:lnSpc>
                <a:spcPct val="130000"/>
              </a:lnSpc>
              <a:spcBef>
                <a:spcPts val="0"/>
              </a:spcBef>
              <a:spcAft>
                <a:spcPts val="0"/>
              </a:spcAft>
              <a:buFont typeface="+mj-lt"/>
              <a:buAutoNum type="arabicPeriod"/>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No systematic evaluation of hybrid privacy configurations [4].</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Existing privacy schemes (e.g., </a:t>
            </a:r>
            <a:r>
              <a:rPr lang="en-US" altLang="zh-CN" sz="2200" dirty="0" err="1">
                <a:solidFill>
                  <a:schemeClr val="tx1">
                    <a:lumMod val="75000"/>
                    <a:lumOff val="25000"/>
                  </a:schemeClr>
                </a:solidFill>
                <a:latin typeface="Roboto Light" panose="02000000000000000000" charset="0"/>
                <a:cs typeface="Roboto Light" panose="02000000000000000000" charset="0"/>
                <a:sym typeface="+mn-ea"/>
              </a:rPr>
              <a:t>SecHOG</a:t>
            </a: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 are evaluated separately, with no systematic assessment of hybrid configurations.</a:t>
            </a:r>
          </a:p>
          <a:p>
            <a:pPr marL="457200" indent="-457200" algn="just">
              <a:lnSpc>
                <a:spcPct val="130000"/>
              </a:lnSpc>
              <a:spcBef>
                <a:spcPts val="0"/>
              </a:spcBef>
              <a:spcAft>
                <a:spcPts val="0"/>
              </a:spcAft>
              <a:buFont typeface="+mj-lt"/>
              <a:buAutoNum type="arabicPeriod"/>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Absence of a quantitative model linking privacy, accuracy, and fairness [5].</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Prior methods lack quantitative models to link privacy with accuracy/utility.</a:t>
            </a:r>
          </a:p>
        </p:txBody>
      </p:sp>
      <p:sp>
        <p:nvSpPr>
          <p:cNvPr id="5" name="object 2">
            <a:extLst>
              <a:ext uri="{FF2B5EF4-FFF2-40B4-BE49-F238E27FC236}">
                <a16:creationId xmlns:a16="http://schemas.microsoft.com/office/drawing/2014/main" id="{F7D3228F-2ACC-0771-7088-D830AC929C2C}"/>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B6D43B6F-0D91-B87C-1E8E-CCB6EEB072E2}"/>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34267947-7564-25BA-846A-BE0DCA265328}"/>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37B2E856-3446-4F6B-71CB-1EAB366AC62C}"/>
              </a:ext>
            </a:extLst>
          </p:cNvPr>
          <p:cNvSpPr>
            <a:spLocks noGrp="1"/>
          </p:cNvSpPr>
          <p:nvPr>
            <p:ph type="sldNum" sz="quarter" idx="12"/>
          </p:nvPr>
        </p:nvSpPr>
        <p:spPr>
          <a:xfrm>
            <a:off x="5952153" y="6466302"/>
            <a:ext cx="287694" cy="365125"/>
          </a:xfrm>
        </p:spPr>
        <p:txBody>
          <a:bodyPr/>
          <a:lstStyle/>
          <a:p>
            <a:fld id="{565CE74E-AB26-4998-AD42-012C4C1AD076}" type="slidenum">
              <a:rPr lang="zh-CN" altLang="en-US" b="1" smtClean="0">
                <a:solidFill>
                  <a:srgbClr val="203864"/>
                </a:solidFill>
              </a:rPr>
              <a:t>8</a:t>
            </a:fld>
            <a:endParaRPr lang="zh-CN" altLang="en-US" b="1" dirty="0">
              <a:solidFill>
                <a:srgbClr val="203864"/>
              </a:solidFill>
            </a:endParaRPr>
          </a:p>
        </p:txBody>
      </p:sp>
    </p:spTree>
    <p:extLst>
      <p:ext uri="{BB962C8B-B14F-4D97-AF65-F5344CB8AC3E}">
        <p14:creationId xmlns:p14="http://schemas.microsoft.com/office/powerpoint/2010/main" val="4232865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ABA4-6160-1BF8-9B33-F98215E91CA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CBC2246-BDF9-E6CA-0089-A097C1FD8F8B}"/>
              </a:ext>
            </a:extLst>
          </p:cNvPr>
          <p:cNvSpPr txBox="1"/>
          <p:nvPr/>
        </p:nvSpPr>
        <p:spPr>
          <a:xfrm>
            <a:off x="320675" y="200025"/>
            <a:ext cx="8170182"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Significance of Research</a:t>
            </a:r>
          </a:p>
        </p:txBody>
      </p:sp>
      <p:sp>
        <p:nvSpPr>
          <p:cNvPr id="9" name="文本框 8">
            <a:extLst>
              <a:ext uri="{FF2B5EF4-FFF2-40B4-BE49-F238E27FC236}">
                <a16:creationId xmlns:a16="http://schemas.microsoft.com/office/drawing/2014/main" id="{A436DB2D-6A0B-D521-F7FB-3988EEC5D1A0}"/>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Novelty</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2E2F535B-2A30-572C-6457-F50F15D5AB57}"/>
              </a:ext>
            </a:extLst>
          </p:cNvPr>
          <p:cNvSpPr txBox="1"/>
          <p:nvPr/>
        </p:nvSpPr>
        <p:spPr>
          <a:xfrm>
            <a:off x="902970" y="1838361"/>
            <a:ext cx="10674985" cy="1590639"/>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Introduces hybrid / optimized privacy-preserving techniques (e.g., light blurring + masking) that go beyond the single-method evaluation done in most prior studies and use a multi-method evaluation.</a:t>
            </a: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A4FD23B8-4689-CA0D-B1F3-70D6745BC974}"/>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8CD2FCDB-8653-3D8B-6CFE-3414CDF5EDF0}"/>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CE3B7783-9EAD-04E3-B5E6-4F4E4E5F7968}"/>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1BE787D3-B168-5AA0-ACA3-F9F7C3D1CF9F}"/>
              </a:ext>
            </a:extLst>
          </p:cNvPr>
          <p:cNvSpPr>
            <a:spLocks noGrp="1"/>
          </p:cNvSpPr>
          <p:nvPr>
            <p:ph type="sldNum" sz="quarter" idx="12"/>
          </p:nvPr>
        </p:nvSpPr>
        <p:spPr>
          <a:xfrm>
            <a:off x="5952153" y="6466302"/>
            <a:ext cx="287694" cy="365125"/>
          </a:xfrm>
        </p:spPr>
        <p:txBody>
          <a:bodyPr/>
          <a:lstStyle/>
          <a:p>
            <a:fld id="{565CE74E-AB26-4998-AD42-012C4C1AD076}" type="slidenum">
              <a:rPr lang="zh-CN" altLang="en-US" b="1" smtClean="0">
                <a:solidFill>
                  <a:srgbClr val="203864"/>
                </a:solidFill>
              </a:rPr>
              <a:t>9</a:t>
            </a:fld>
            <a:endParaRPr lang="zh-CN" altLang="en-US" b="1" dirty="0">
              <a:solidFill>
                <a:srgbClr val="203864"/>
              </a:solidFill>
            </a:endParaRPr>
          </a:p>
        </p:txBody>
      </p:sp>
      <p:sp>
        <p:nvSpPr>
          <p:cNvPr id="4" name="文本框 11">
            <a:extLst>
              <a:ext uri="{FF2B5EF4-FFF2-40B4-BE49-F238E27FC236}">
                <a16:creationId xmlns:a16="http://schemas.microsoft.com/office/drawing/2014/main" id="{E3EA8A61-A233-0DCE-0C2D-4B91A547A165}"/>
              </a:ext>
            </a:extLst>
          </p:cNvPr>
          <p:cNvSpPr txBox="1"/>
          <p:nvPr/>
        </p:nvSpPr>
        <p:spPr>
          <a:xfrm>
            <a:off x="902970" y="4198220"/>
            <a:ext cx="10674985" cy="1589391"/>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Addresses the real-world trade-off between privacy and accuracy in surveillance AI.</a:t>
            </a:r>
          </a:p>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Supports compliance with data protection laws.</a:t>
            </a:r>
          </a:p>
        </p:txBody>
      </p:sp>
      <p:sp>
        <p:nvSpPr>
          <p:cNvPr id="6" name="文本框 8">
            <a:extLst>
              <a:ext uri="{FF2B5EF4-FFF2-40B4-BE49-F238E27FC236}">
                <a16:creationId xmlns:a16="http://schemas.microsoft.com/office/drawing/2014/main" id="{7DA020DF-CFFA-3E7C-6D9F-94260525876D}"/>
              </a:ext>
            </a:extLst>
          </p:cNvPr>
          <p:cNvSpPr txBox="1"/>
          <p:nvPr/>
        </p:nvSpPr>
        <p:spPr>
          <a:xfrm>
            <a:off x="320675" y="3552000"/>
            <a:ext cx="4810125"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Importance</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Tree>
    <p:extLst>
      <p:ext uri="{BB962C8B-B14F-4D97-AF65-F5344CB8AC3E}">
        <p14:creationId xmlns:p14="http://schemas.microsoft.com/office/powerpoint/2010/main" val="1186026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B4172-8535-75E5-536C-8D993AD05304}"/>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5C4E7789-267E-8260-B5B5-A6E8CB907980}"/>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Message to the Community</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2B761906-C253-092B-A464-ECD1F7D8344D}"/>
              </a:ext>
            </a:extLst>
          </p:cNvPr>
          <p:cNvSpPr txBox="1"/>
          <p:nvPr/>
        </p:nvSpPr>
        <p:spPr>
          <a:xfrm>
            <a:off x="902970" y="1838361"/>
            <a:ext cx="10674985" cy="2373630"/>
          </a:xfrm>
          <a:prstGeom prst="rect">
            <a:avLst/>
          </a:prstGeom>
          <a:noFill/>
        </p:spPr>
        <p:txBody>
          <a:bodyPr wrap="square" rtlCol="0" anchor="t">
            <a:noAutofit/>
          </a:bodyPr>
          <a:lstStyle/>
          <a:p>
            <a:pPr marL="342900" indent="-342900" algn="just">
              <a:lnSpc>
                <a:spcPct val="12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Privacy and accuracy can coexist through smart hybrid design.</a:t>
            </a:r>
          </a:p>
          <a:p>
            <a:pPr marL="342900" indent="-342900" algn="just">
              <a:lnSpc>
                <a:spcPct val="12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Encourages building privacy-aware computer vision systems that remain effective and fair.</a:t>
            </a:r>
          </a:p>
          <a:p>
            <a:pPr marL="342900" indent="-342900" algn="just">
              <a:lnSpc>
                <a:spcPct val="12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Contributes guidelines and benchmarks for future privacy-preserving AI research.</a:t>
            </a: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6D92CA2D-FF6D-1876-0659-184980ECA436}"/>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CE83247B-1764-19DD-A7EF-1908ED653D7D}"/>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2BC700EC-385F-58A3-C98D-3E437131DFEC}"/>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B2E76656-2B6B-C7F5-0D97-04FFA9254AC1}"/>
              </a:ext>
            </a:extLst>
          </p:cNvPr>
          <p:cNvSpPr>
            <a:spLocks noGrp="1"/>
          </p:cNvSpPr>
          <p:nvPr>
            <p:ph type="sldNum" sz="quarter" idx="12"/>
          </p:nvPr>
        </p:nvSpPr>
        <p:spPr>
          <a:xfrm>
            <a:off x="5918330" y="6466302"/>
            <a:ext cx="355341" cy="365125"/>
          </a:xfrm>
        </p:spPr>
        <p:txBody>
          <a:bodyPr/>
          <a:lstStyle/>
          <a:p>
            <a:fld id="{565CE74E-AB26-4998-AD42-012C4C1AD076}" type="slidenum">
              <a:rPr lang="zh-CN" altLang="en-US" b="1" smtClean="0">
                <a:solidFill>
                  <a:srgbClr val="203864"/>
                </a:solidFill>
              </a:rPr>
              <a:t>10</a:t>
            </a:fld>
            <a:endParaRPr lang="zh-CN" altLang="en-US" b="1" dirty="0">
              <a:solidFill>
                <a:srgbClr val="203864"/>
              </a:solidFill>
            </a:endParaRPr>
          </a:p>
        </p:txBody>
      </p:sp>
      <p:sp>
        <p:nvSpPr>
          <p:cNvPr id="4" name="文本框 8">
            <a:extLst>
              <a:ext uri="{FF2B5EF4-FFF2-40B4-BE49-F238E27FC236}">
                <a16:creationId xmlns:a16="http://schemas.microsoft.com/office/drawing/2014/main" id="{D0D07911-1933-5363-B847-D9C6D8AB0B84}"/>
              </a:ext>
            </a:extLst>
          </p:cNvPr>
          <p:cNvSpPr txBox="1"/>
          <p:nvPr/>
        </p:nvSpPr>
        <p:spPr>
          <a:xfrm>
            <a:off x="320675" y="42119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Who Benefits:</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6" name="文本框 11">
            <a:extLst>
              <a:ext uri="{FF2B5EF4-FFF2-40B4-BE49-F238E27FC236}">
                <a16:creationId xmlns:a16="http://schemas.microsoft.com/office/drawing/2014/main" id="{6A0DA3E6-DB95-B7B0-FD8C-A40B58CE551A}"/>
              </a:ext>
            </a:extLst>
          </p:cNvPr>
          <p:cNvSpPr txBox="1"/>
          <p:nvPr/>
        </p:nvSpPr>
        <p:spPr>
          <a:xfrm>
            <a:off x="902969" y="4735210"/>
            <a:ext cx="10674985" cy="1687325"/>
          </a:xfrm>
          <a:prstGeom prst="rect">
            <a:avLst/>
          </a:prstGeom>
          <a:noFill/>
        </p:spPr>
        <p:txBody>
          <a:bodyPr wrap="square" rtlCol="0" anchor="t">
            <a:noAutofit/>
          </a:bodyPr>
          <a:lstStyle/>
          <a:p>
            <a:pPr marL="342900" indent="-342900" algn="just">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AI researchers &amp; developers</a:t>
            </a:r>
          </a:p>
          <a:p>
            <a:pPr marL="342900" indent="-342900" algn="just">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Public safety &amp; surveillance agencies</a:t>
            </a:r>
          </a:p>
          <a:p>
            <a:pPr marL="342900" indent="-342900" algn="just">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Policymakers &amp; data protection officers</a:t>
            </a:r>
          </a:p>
          <a:p>
            <a:pPr marL="342900" indent="-342900" algn="just">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General public</a:t>
            </a: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2" name="文本框 1">
            <a:extLst>
              <a:ext uri="{FF2B5EF4-FFF2-40B4-BE49-F238E27FC236}">
                <a16:creationId xmlns:a16="http://schemas.microsoft.com/office/drawing/2014/main" id="{BD09B5B8-32EB-0707-9F9D-B05A948ABE1E}"/>
              </a:ext>
            </a:extLst>
          </p:cNvPr>
          <p:cNvSpPr txBox="1"/>
          <p:nvPr/>
        </p:nvSpPr>
        <p:spPr>
          <a:xfrm>
            <a:off x="320675" y="200025"/>
            <a:ext cx="9989652"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Significance of Research (Cont.) </a:t>
            </a:r>
          </a:p>
        </p:txBody>
      </p:sp>
    </p:spTree>
    <p:extLst>
      <p:ext uri="{BB962C8B-B14F-4D97-AF65-F5344CB8AC3E}">
        <p14:creationId xmlns:p14="http://schemas.microsoft.com/office/powerpoint/2010/main" val="1671224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1CB01-0193-524A-0EC8-4F114F37401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FAF5687-A5DE-5003-5137-A461D27DC337}"/>
              </a:ext>
            </a:extLst>
          </p:cNvPr>
          <p:cNvSpPr txBox="1"/>
          <p:nvPr/>
        </p:nvSpPr>
        <p:spPr>
          <a:xfrm>
            <a:off x="320675" y="200025"/>
            <a:ext cx="9631680"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Problem Statement</a:t>
            </a:r>
          </a:p>
        </p:txBody>
      </p:sp>
      <p:sp>
        <p:nvSpPr>
          <p:cNvPr id="9" name="文本框 8">
            <a:extLst>
              <a:ext uri="{FF2B5EF4-FFF2-40B4-BE49-F238E27FC236}">
                <a16:creationId xmlns:a16="http://schemas.microsoft.com/office/drawing/2014/main" id="{9D53EC1D-FA2E-59C1-7D29-67A065969C07}"/>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Main Problem </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92C6389B-E3D2-E12B-C67A-0C2509FDC21C}"/>
              </a:ext>
            </a:extLst>
          </p:cNvPr>
          <p:cNvSpPr txBox="1"/>
          <p:nvPr/>
        </p:nvSpPr>
        <p:spPr>
          <a:xfrm>
            <a:off x="902970" y="1838360"/>
            <a:ext cx="10674985" cy="2956503"/>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Computer vision models for public surveillance systems are used for pedestrian monitoring and safety management, but while privacy-preserving methods such as face blurring, encryption, and masking protect identities, they often reduce model accuracy.</a:t>
            </a:r>
          </a:p>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Existing studies evaluate these techniques separately, without testing combined or optimized approaches.</a:t>
            </a:r>
          </a:p>
        </p:txBody>
      </p:sp>
      <p:sp>
        <p:nvSpPr>
          <p:cNvPr id="5" name="object 2">
            <a:extLst>
              <a:ext uri="{FF2B5EF4-FFF2-40B4-BE49-F238E27FC236}">
                <a16:creationId xmlns:a16="http://schemas.microsoft.com/office/drawing/2014/main" id="{F00DFFEA-D17D-0784-4A58-EEE8D8A24F57}"/>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0700F45A-0783-0DE9-4A60-DEEB4BE686E1}"/>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454BC413-55C2-1ABB-6692-6788AC373DFD}"/>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760C5240-5865-3DEC-16F1-CF9E52FB0248}"/>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11</a:t>
            </a:fld>
            <a:endParaRPr lang="zh-CN" altLang="en-US" b="1" dirty="0">
              <a:solidFill>
                <a:srgbClr val="203864"/>
              </a:solidFill>
            </a:endParaRPr>
          </a:p>
        </p:txBody>
      </p:sp>
      <p:grpSp>
        <p:nvGrpSpPr>
          <p:cNvPr id="11" name="Group 10">
            <a:extLst>
              <a:ext uri="{FF2B5EF4-FFF2-40B4-BE49-F238E27FC236}">
                <a16:creationId xmlns:a16="http://schemas.microsoft.com/office/drawing/2014/main" id="{3BEB74D2-4BE1-BA85-C629-066181A5351A}"/>
              </a:ext>
            </a:extLst>
          </p:cNvPr>
          <p:cNvGrpSpPr/>
          <p:nvPr/>
        </p:nvGrpSpPr>
        <p:grpSpPr>
          <a:xfrm>
            <a:off x="7930832" y="4137330"/>
            <a:ext cx="3141345" cy="2328972"/>
            <a:chOff x="7498219" y="3174162"/>
            <a:chExt cx="3863200" cy="3127370"/>
          </a:xfrm>
        </p:grpSpPr>
        <p:pic>
          <p:nvPicPr>
            <p:cNvPr id="6" name="Picture 5" descr="A graph of a bar graph&#10;&#10;AI-generated content may be incorrect.">
              <a:extLst>
                <a:ext uri="{FF2B5EF4-FFF2-40B4-BE49-F238E27FC236}">
                  <a16:creationId xmlns:a16="http://schemas.microsoft.com/office/drawing/2014/main" id="{0856CB5F-A9F9-6798-A2BE-6FE4311D4C96}"/>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13701" t="15784" r="11846" b="17127"/>
            <a:stretch>
              <a:fillRect/>
            </a:stretch>
          </p:blipFill>
          <p:spPr>
            <a:xfrm>
              <a:off x="8174176" y="3174162"/>
              <a:ext cx="3187243" cy="2872071"/>
            </a:xfrm>
            <a:prstGeom prst="rect">
              <a:avLst/>
            </a:prstGeom>
          </p:spPr>
        </p:pic>
        <p:sp>
          <p:nvSpPr>
            <p:cNvPr id="7" name="TextBox 6">
              <a:extLst>
                <a:ext uri="{FF2B5EF4-FFF2-40B4-BE49-F238E27FC236}">
                  <a16:creationId xmlns:a16="http://schemas.microsoft.com/office/drawing/2014/main" id="{1BA3A5BB-0571-612C-5648-2A046C0CCC5E}"/>
                </a:ext>
              </a:extLst>
            </p:cNvPr>
            <p:cNvSpPr txBox="1"/>
            <p:nvPr/>
          </p:nvSpPr>
          <p:spPr>
            <a:xfrm>
              <a:off x="7498219" y="4425531"/>
              <a:ext cx="918841" cy="369332"/>
            </a:xfrm>
            <a:prstGeom prst="rect">
              <a:avLst/>
            </a:prstGeom>
            <a:noFill/>
          </p:spPr>
          <p:txBody>
            <a:bodyPr wrap="none" rtlCol="0">
              <a:spAutoFit/>
            </a:bodyPr>
            <a:lstStyle/>
            <a:p>
              <a:r>
                <a:rPr lang="en-US" dirty="0"/>
                <a:t>Privacy</a:t>
              </a:r>
            </a:p>
          </p:txBody>
        </p:sp>
        <p:sp>
          <p:nvSpPr>
            <p:cNvPr id="8" name="TextBox 7">
              <a:extLst>
                <a:ext uri="{FF2B5EF4-FFF2-40B4-BE49-F238E27FC236}">
                  <a16:creationId xmlns:a16="http://schemas.microsoft.com/office/drawing/2014/main" id="{3B6E24F4-6334-B5B7-AD37-B123E3F0CBC2}"/>
                </a:ext>
              </a:extLst>
            </p:cNvPr>
            <p:cNvSpPr txBox="1"/>
            <p:nvPr/>
          </p:nvSpPr>
          <p:spPr>
            <a:xfrm>
              <a:off x="9394137" y="5932200"/>
              <a:ext cx="747320" cy="369332"/>
            </a:xfrm>
            <a:prstGeom prst="rect">
              <a:avLst/>
            </a:prstGeom>
            <a:noFill/>
          </p:spPr>
          <p:txBody>
            <a:bodyPr wrap="none" rtlCol="0">
              <a:spAutoFit/>
            </a:bodyPr>
            <a:lstStyle/>
            <a:p>
              <a:r>
                <a:rPr lang="en-US" dirty="0"/>
                <a:t>Utility</a:t>
              </a:r>
            </a:p>
          </p:txBody>
        </p:sp>
      </p:grpSp>
    </p:spTree>
    <p:extLst>
      <p:ext uri="{BB962C8B-B14F-4D97-AF65-F5344CB8AC3E}">
        <p14:creationId xmlns:p14="http://schemas.microsoft.com/office/powerpoint/2010/main" val="1863891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39CA-DC31-00DB-52F5-39479B6D774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837D54E-69EC-CB0A-4E5C-86BD063ADE51}"/>
              </a:ext>
            </a:extLst>
          </p:cNvPr>
          <p:cNvSpPr txBox="1"/>
          <p:nvPr/>
        </p:nvSpPr>
        <p:spPr>
          <a:xfrm>
            <a:off x="320675" y="200025"/>
            <a:ext cx="9631680"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Research Questions</a:t>
            </a:r>
          </a:p>
        </p:txBody>
      </p:sp>
      <p:sp>
        <p:nvSpPr>
          <p:cNvPr id="9" name="文本框 8">
            <a:extLst>
              <a:ext uri="{FF2B5EF4-FFF2-40B4-BE49-F238E27FC236}">
                <a16:creationId xmlns:a16="http://schemas.microsoft.com/office/drawing/2014/main" id="{E9EA16C6-F35F-DBFA-4D29-62D5637A49FD}"/>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Research Questions</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5E2D63B4-D7D0-C76B-2075-5F61DC3815A6}"/>
              </a:ext>
            </a:extLst>
          </p:cNvPr>
          <p:cNvSpPr txBox="1"/>
          <p:nvPr/>
        </p:nvSpPr>
        <p:spPr>
          <a:xfrm>
            <a:off x="902970" y="1838360"/>
            <a:ext cx="10674985" cy="4207873"/>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RQ1: </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How do different privacy-preserving techniques (blurring, swapping, anonymization) affect model accuracy?</a:t>
            </a:r>
          </a:p>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RQ2: </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How does varying the intensity or level of privacy preservation impact the balance between data privacy and model utility?</a:t>
            </a:r>
          </a:p>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RQ3: </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Can an optimized or hybrid combination of privacy-preserving techniques provide a better balance between privacy protection and model performance compared to individual methods?</a:t>
            </a:r>
          </a:p>
          <a:p>
            <a:pPr marL="342900" indent="-342900" algn="just">
              <a:lnSpc>
                <a:spcPct val="130000"/>
              </a:lnSpc>
              <a:buFont typeface="Arial" panose="020B0604020202020204" pitchFamily="34" charset="0"/>
              <a:buChar char="•"/>
            </a:pP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CBFA72D3-6D19-D80F-B28F-DA6A30A3AC8E}"/>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8AF03847-91F1-6E9D-F5E1-B2E69C2E84C1}"/>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64173F31-7D17-7894-FED6-CD1442F26B40}"/>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54268042-648A-4E66-921C-50CF124CE898}"/>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12</a:t>
            </a:fld>
            <a:endParaRPr lang="zh-CN" altLang="en-US" b="1" dirty="0">
              <a:solidFill>
                <a:srgbClr val="203864"/>
              </a:solidFill>
            </a:endParaRPr>
          </a:p>
        </p:txBody>
      </p:sp>
    </p:spTree>
    <p:extLst>
      <p:ext uri="{BB962C8B-B14F-4D97-AF65-F5344CB8AC3E}">
        <p14:creationId xmlns:p14="http://schemas.microsoft.com/office/powerpoint/2010/main" val="3411459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951C-0CDE-74D5-1BB5-B360FBF69EF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8ED61C1-3DB2-908A-18FF-7FB557271866}"/>
              </a:ext>
            </a:extLst>
          </p:cNvPr>
          <p:cNvSpPr txBox="1"/>
          <p:nvPr/>
        </p:nvSpPr>
        <p:spPr>
          <a:xfrm>
            <a:off x="320675" y="200025"/>
            <a:ext cx="9631680"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Research Objectives</a:t>
            </a:r>
          </a:p>
        </p:txBody>
      </p:sp>
      <p:sp>
        <p:nvSpPr>
          <p:cNvPr id="9" name="文本框 8">
            <a:extLst>
              <a:ext uri="{FF2B5EF4-FFF2-40B4-BE49-F238E27FC236}">
                <a16:creationId xmlns:a16="http://schemas.microsoft.com/office/drawing/2014/main" id="{89AE1D0F-7D9B-CC16-44FA-4780A5A716D2}"/>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Main Objective</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C820D655-2CF5-A898-EA25-2003074D2B67}"/>
              </a:ext>
            </a:extLst>
          </p:cNvPr>
          <p:cNvSpPr txBox="1"/>
          <p:nvPr/>
        </p:nvSpPr>
        <p:spPr>
          <a:xfrm>
            <a:off x="902970" y="1838360"/>
            <a:ext cx="10674985" cy="4207873"/>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To evaluate and improve privacy-preserving techniques for pedestrian detection in public surveillance by identifying the optimal balance between privacy protection and model performance, including the development and testing of hybrid or optimized combinations of privacy-preserving methods.</a:t>
            </a: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4B0CD394-E4C1-FEDA-B8BF-C88E87A1B9B8}"/>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4A19DCCA-7F54-BDB9-0E25-B3580B5FFBF8}"/>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B29C7097-99A8-12A7-A417-5F0A6227299F}"/>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ABFDDCAE-5F80-022F-FD84-3529239DD106}"/>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13</a:t>
            </a:fld>
            <a:endParaRPr lang="zh-CN" altLang="en-US" b="1" dirty="0">
              <a:solidFill>
                <a:srgbClr val="203864"/>
              </a:solidFill>
            </a:endParaRPr>
          </a:p>
        </p:txBody>
      </p:sp>
    </p:spTree>
    <p:extLst>
      <p:ext uri="{BB962C8B-B14F-4D97-AF65-F5344CB8AC3E}">
        <p14:creationId xmlns:p14="http://schemas.microsoft.com/office/powerpoint/2010/main" val="378398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3852B-C9DD-ABE7-17C9-4776087BE25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040AD75-D56A-ECAD-2AEB-88E22D4251B1}"/>
              </a:ext>
            </a:extLst>
          </p:cNvPr>
          <p:cNvSpPr txBox="1"/>
          <p:nvPr/>
        </p:nvSpPr>
        <p:spPr>
          <a:xfrm>
            <a:off x="320675" y="200025"/>
            <a:ext cx="9631680"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Research Objectives (Cont.) </a:t>
            </a:r>
          </a:p>
        </p:txBody>
      </p:sp>
      <p:sp>
        <p:nvSpPr>
          <p:cNvPr id="5" name="object 2">
            <a:extLst>
              <a:ext uri="{FF2B5EF4-FFF2-40B4-BE49-F238E27FC236}">
                <a16:creationId xmlns:a16="http://schemas.microsoft.com/office/drawing/2014/main" id="{69B72D62-5817-A117-2724-97C68B594666}"/>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CAC5A6D1-041C-E904-FA10-1E91AB1AF4D7}"/>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C016759A-AD5D-1A6D-8204-98A26158010C}"/>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58F0B952-D08D-9627-B748-E137CEC5DDAD}"/>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14</a:t>
            </a:fld>
            <a:endParaRPr lang="zh-CN" altLang="en-US" b="1" dirty="0">
              <a:solidFill>
                <a:srgbClr val="203864"/>
              </a:solidFill>
            </a:endParaRPr>
          </a:p>
        </p:txBody>
      </p:sp>
      <p:pic>
        <p:nvPicPr>
          <p:cNvPr id="6" name="Picture 5">
            <a:extLst>
              <a:ext uri="{FF2B5EF4-FFF2-40B4-BE49-F238E27FC236}">
                <a16:creationId xmlns:a16="http://schemas.microsoft.com/office/drawing/2014/main" id="{48AED163-D06D-DCF5-55FC-56596A23274B}"/>
              </a:ext>
            </a:extLst>
          </p:cNvPr>
          <p:cNvPicPr>
            <a:picLocks noChangeAspect="1"/>
          </p:cNvPicPr>
          <p:nvPr/>
        </p:nvPicPr>
        <p:blipFill>
          <a:blip r:embed="rId4" cstate="print">
            <a:extLst>
              <a:ext uri="{28A0092B-C50C-407E-A947-70E740481C1C}">
                <a14:useLocalDpi xmlns:a14="http://schemas.microsoft.com/office/drawing/2010/main" val="0"/>
              </a:ext>
            </a:extLst>
          </a:blip>
          <a:srcRect b="2353"/>
          <a:stretch>
            <a:fillRect/>
          </a:stretch>
        </p:blipFill>
        <p:spPr>
          <a:xfrm>
            <a:off x="2498798" y="983210"/>
            <a:ext cx="7194405" cy="5495408"/>
          </a:xfrm>
          <a:prstGeom prst="rect">
            <a:avLst/>
          </a:prstGeom>
        </p:spPr>
      </p:pic>
    </p:spTree>
    <p:extLst>
      <p:ext uri="{BB962C8B-B14F-4D97-AF65-F5344CB8AC3E}">
        <p14:creationId xmlns:p14="http://schemas.microsoft.com/office/powerpoint/2010/main" val="3120559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4226E-55E3-B8DC-4C1D-F2EECEA9036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5EB2E62-D317-8744-1709-7D4491B3B647}"/>
              </a:ext>
            </a:extLst>
          </p:cNvPr>
          <p:cNvSpPr txBox="1"/>
          <p:nvPr/>
        </p:nvSpPr>
        <p:spPr>
          <a:xfrm>
            <a:off x="320675" y="200025"/>
            <a:ext cx="9631680"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Proposed Research Method/s</a:t>
            </a:r>
          </a:p>
        </p:txBody>
      </p:sp>
      <p:sp>
        <p:nvSpPr>
          <p:cNvPr id="5" name="object 2">
            <a:extLst>
              <a:ext uri="{FF2B5EF4-FFF2-40B4-BE49-F238E27FC236}">
                <a16:creationId xmlns:a16="http://schemas.microsoft.com/office/drawing/2014/main" id="{E8E4F05F-09A3-6208-8825-94631C4BBC4C}"/>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D97F2D1C-D16F-2E04-1FA3-2B63B276D207}"/>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FFF5A2F2-E1C0-84A2-5C88-08E228D4D058}"/>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C2DD97A6-2BDC-10C0-CE38-FDDFB2A49BAC}"/>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15</a:t>
            </a:fld>
            <a:endParaRPr lang="zh-CN" altLang="en-US" b="1" dirty="0">
              <a:solidFill>
                <a:srgbClr val="203864"/>
              </a:solidFill>
            </a:endParaRPr>
          </a:p>
        </p:txBody>
      </p:sp>
      <p:pic>
        <p:nvPicPr>
          <p:cNvPr id="6" name="Picture 5">
            <a:extLst>
              <a:ext uri="{FF2B5EF4-FFF2-40B4-BE49-F238E27FC236}">
                <a16:creationId xmlns:a16="http://schemas.microsoft.com/office/drawing/2014/main" id="{F439E840-2557-AB68-DD8B-2762E4166A9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82979" y="1099095"/>
            <a:ext cx="11826042" cy="5330370"/>
          </a:xfrm>
          <a:prstGeom prst="rect">
            <a:avLst/>
          </a:prstGeom>
        </p:spPr>
      </p:pic>
    </p:spTree>
    <p:extLst>
      <p:ext uri="{BB962C8B-B14F-4D97-AF65-F5344CB8AC3E}">
        <p14:creationId xmlns:p14="http://schemas.microsoft.com/office/powerpoint/2010/main" val="2554821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83E-94A7-AC46-D30B-019E653AD29D}"/>
            </a:ext>
          </a:extLst>
        </p:cNvPr>
        <p:cNvGrpSpPr/>
        <p:nvPr/>
      </p:nvGrpSpPr>
      <p:grpSpPr>
        <a:xfrm>
          <a:off x="0" y="0"/>
          <a:ext cx="0" cy="0"/>
          <a:chOff x="0" y="0"/>
          <a:chExt cx="0" cy="0"/>
        </a:xfrm>
      </p:grpSpPr>
      <p:pic>
        <p:nvPicPr>
          <p:cNvPr id="16" name="object 6">
            <a:extLst>
              <a:ext uri="{FF2B5EF4-FFF2-40B4-BE49-F238E27FC236}">
                <a16:creationId xmlns:a16="http://schemas.microsoft.com/office/drawing/2014/main" id="{043AD0A5-8AD9-7903-B394-8583AC847726}"/>
              </a:ext>
            </a:extLst>
          </p:cNvPr>
          <p:cNvPicPr/>
          <p:nvPr/>
        </p:nvPicPr>
        <p:blipFill>
          <a:blip r:embed="rId3" cstate="print"/>
          <a:stretch>
            <a:fillRect/>
          </a:stretch>
        </p:blipFill>
        <p:spPr>
          <a:xfrm>
            <a:off x="9952355" y="635"/>
            <a:ext cx="2239645" cy="711835"/>
          </a:xfrm>
          <a:prstGeom prst="rect">
            <a:avLst/>
          </a:prstGeom>
        </p:spPr>
      </p:pic>
      <p:sp>
        <p:nvSpPr>
          <p:cNvPr id="2" name="文本框 1">
            <a:extLst>
              <a:ext uri="{FF2B5EF4-FFF2-40B4-BE49-F238E27FC236}">
                <a16:creationId xmlns:a16="http://schemas.microsoft.com/office/drawing/2014/main" id="{F92C5985-A013-B5FD-FEC4-72DB316B3767}"/>
              </a:ext>
            </a:extLst>
          </p:cNvPr>
          <p:cNvSpPr txBox="1"/>
          <p:nvPr/>
        </p:nvSpPr>
        <p:spPr>
          <a:xfrm>
            <a:off x="320675" y="200025"/>
            <a:ext cx="11099165"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Proposed Research Method/s</a:t>
            </a:r>
            <a:r>
              <a:rPr lang="en-US" altLang="zh-CN" sz="4400" cap="all" dirty="0">
                <a:solidFill>
                  <a:srgbClr val="203864"/>
                </a:solidFill>
                <a:latin typeface="Times New Roman" panose="02020603050405020304" charset="0"/>
                <a:ea typeface="Roboto Light" panose="02000000000000000000" charset="0"/>
                <a:cs typeface="Times New Roman" panose="02020603050405020304" charset="0"/>
                <a:sym typeface="+mn-ea"/>
              </a:rPr>
              <a:t> (Cont.) </a:t>
            </a:r>
            <a:endPar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9" name="文本框 8">
            <a:extLst>
              <a:ext uri="{FF2B5EF4-FFF2-40B4-BE49-F238E27FC236}">
                <a16:creationId xmlns:a16="http://schemas.microsoft.com/office/drawing/2014/main" id="{A39B2EC7-30C6-0DD7-90C1-67C7C903A6E2}"/>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Experimental Framework</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571C1C9C-1176-D1D6-4E59-4401B00C5860}"/>
              </a:ext>
            </a:extLst>
          </p:cNvPr>
          <p:cNvSpPr txBox="1"/>
          <p:nvPr/>
        </p:nvSpPr>
        <p:spPr>
          <a:xfrm>
            <a:off x="902970" y="1838360"/>
            <a:ext cx="10674985" cy="4207873"/>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Datasets: </a:t>
            </a:r>
            <a:r>
              <a:rPr lang="en-US" altLang="zh-CN" sz="2400" dirty="0" err="1">
                <a:solidFill>
                  <a:schemeClr val="tx1">
                    <a:lumMod val="75000"/>
                    <a:lumOff val="25000"/>
                  </a:schemeClr>
                </a:solidFill>
                <a:latin typeface="Roboto Light" panose="02000000000000000000" charset="0"/>
                <a:cs typeface="Roboto Light" panose="02000000000000000000" charset="0"/>
                <a:sym typeface="+mn-ea"/>
              </a:rPr>
              <a:t>CityPersons</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 </a:t>
            </a:r>
            <a:r>
              <a:rPr lang="en-US" altLang="zh-CN" sz="2400" dirty="0" err="1">
                <a:solidFill>
                  <a:schemeClr val="tx1">
                    <a:lumMod val="75000"/>
                    <a:lumOff val="25000"/>
                  </a:schemeClr>
                </a:solidFill>
                <a:latin typeface="Roboto Light" panose="02000000000000000000" charset="0"/>
                <a:cs typeface="Roboto Light" panose="02000000000000000000" charset="0"/>
                <a:sym typeface="+mn-ea"/>
              </a:rPr>
              <a:t>WiderPerson</a:t>
            </a:r>
            <a:endParaRPr lang="en-US" altLang="zh-CN" sz="2400" dirty="0">
              <a:solidFill>
                <a:schemeClr val="tx1">
                  <a:lumMod val="75000"/>
                  <a:lumOff val="25000"/>
                </a:schemeClr>
              </a:solidFill>
              <a:latin typeface="Roboto Light" panose="02000000000000000000" charset="0"/>
              <a:cs typeface="Roboto Light" panose="02000000000000000000" charset="0"/>
              <a:sym typeface="+mn-ea"/>
            </a:endParaRPr>
          </a:p>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Privacy Techniques:</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Face blurring (Gaussian/mosaic)</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Face swapping (</a:t>
            </a:r>
            <a:r>
              <a:rPr lang="en-US" altLang="zh-CN" sz="2200" dirty="0" err="1">
                <a:solidFill>
                  <a:schemeClr val="tx1">
                    <a:lumMod val="75000"/>
                    <a:lumOff val="25000"/>
                  </a:schemeClr>
                </a:solidFill>
                <a:latin typeface="Roboto Light" panose="02000000000000000000" charset="0"/>
                <a:cs typeface="Roboto Light" panose="02000000000000000000" charset="0"/>
                <a:sym typeface="+mn-ea"/>
              </a:rPr>
              <a:t>DeepPrivacy</a:t>
            </a: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 2)</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Full-body anonymization (semantic segmentation)</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Hybrid setups</a:t>
            </a:r>
          </a:p>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Models: </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YOLOv8, Faster R-CNN</a:t>
            </a: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8F19567E-2ECA-4305-B7EC-7D94B9E81A33}"/>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sp>
        <p:nvSpPr>
          <p:cNvPr id="10" name="object 3">
            <a:extLst>
              <a:ext uri="{FF2B5EF4-FFF2-40B4-BE49-F238E27FC236}">
                <a16:creationId xmlns:a16="http://schemas.microsoft.com/office/drawing/2014/main" id="{4F11C11D-EFF0-EC42-A331-78FBE63AC328}"/>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C18CAB96-495A-0024-71B4-C42851C522C8}"/>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16</a:t>
            </a:fld>
            <a:endParaRPr lang="zh-CN" altLang="en-US" b="1" dirty="0">
              <a:solidFill>
                <a:srgbClr val="203864"/>
              </a:solidFill>
            </a:endParaRPr>
          </a:p>
        </p:txBody>
      </p:sp>
    </p:spTree>
    <p:extLst>
      <p:ext uri="{BB962C8B-B14F-4D97-AF65-F5344CB8AC3E}">
        <p14:creationId xmlns:p14="http://schemas.microsoft.com/office/powerpoint/2010/main" val="3981253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64404-4403-4DF6-C638-A1E4DCAEF7D9}"/>
            </a:ext>
          </a:extLst>
        </p:cNvPr>
        <p:cNvGrpSpPr/>
        <p:nvPr/>
      </p:nvGrpSpPr>
      <p:grpSpPr>
        <a:xfrm>
          <a:off x="0" y="0"/>
          <a:ext cx="0" cy="0"/>
          <a:chOff x="0" y="0"/>
          <a:chExt cx="0" cy="0"/>
        </a:xfrm>
      </p:grpSpPr>
      <p:pic>
        <p:nvPicPr>
          <p:cNvPr id="16" name="object 6">
            <a:extLst>
              <a:ext uri="{FF2B5EF4-FFF2-40B4-BE49-F238E27FC236}">
                <a16:creationId xmlns:a16="http://schemas.microsoft.com/office/drawing/2014/main" id="{92AFE327-9723-A332-C889-DD4DA8B6F23E}"/>
              </a:ext>
            </a:extLst>
          </p:cNvPr>
          <p:cNvPicPr/>
          <p:nvPr/>
        </p:nvPicPr>
        <p:blipFill>
          <a:blip r:embed="rId3" cstate="print"/>
          <a:stretch>
            <a:fillRect/>
          </a:stretch>
        </p:blipFill>
        <p:spPr>
          <a:xfrm>
            <a:off x="9952355" y="635"/>
            <a:ext cx="2239645" cy="711835"/>
          </a:xfrm>
          <a:prstGeom prst="rect">
            <a:avLst/>
          </a:prstGeom>
        </p:spPr>
      </p:pic>
      <p:sp>
        <p:nvSpPr>
          <p:cNvPr id="2" name="文本框 1">
            <a:extLst>
              <a:ext uri="{FF2B5EF4-FFF2-40B4-BE49-F238E27FC236}">
                <a16:creationId xmlns:a16="http://schemas.microsoft.com/office/drawing/2014/main" id="{91B245BB-70F8-C624-FC23-867EC02DA397}"/>
              </a:ext>
            </a:extLst>
          </p:cNvPr>
          <p:cNvSpPr txBox="1"/>
          <p:nvPr/>
        </p:nvSpPr>
        <p:spPr>
          <a:xfrm>
            <a:off x="320674" y="200025"/>
            <a:ext cx="11139805"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Proposed Research Method/s</a:t>
            </a:r>
            <a:r>
              <a:rPr lang="en-US" altLang="zh-CN" sz="4400" cap="all" dirty="0">
                <a:solidFill>
                  <a:srgbClr val="203864"/>
                </a:solidFill>
                <a:latin typeface="Times New Roman" panose="02020603050405020304" charset="0"/>
                <a:ea typeface="Roboto Light" panose="02000000000000000000" charset="0"/>
                <a:cs typeface="Times New Roman" panose="02020603050405020304" charset="0"/>
                <a:sym typeface="+mn-ea"/>
              </a:rPr>
              <a:t> (Cont.) </a:t>
            </a:r>
            <a:endPar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9" name="文本框 8">
            <a:extLst>
              <a:ext uri="{FF2B5EF4-FFF2-40B4-BE49-F238E27FC236}">
                <a16:creationId xmlns:a16="http://schemas.microsoft.com/office/drawing/2014/main" id="{38FF71DE-34C5-892C-4C0F-ABC3E7FEF62F}"/>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latin typeface="Roboto Medium" panose="02000000000000000000" charset="0"/>
                <a:ea typeface="Roboto Light" panose="02000000000000000000" charset="0"/>
                <a:cs typeface="Roboto Medium" panose="02000000000000000000" charset="0"/>
                <a:sym typeface="+mn-ea"/>
              </a:rPr>
              <a:t>Evaluation Metrics</a:t>
            </a:r>
            <a:endPar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endParaRPr>
          </a:p>
        </p:txBody>
      </p:sp>
      <p:sp>
        <p:nvSpPr>
          <p:cNvPr id="12" name="文本框 11">
            <a:extLst>
              <a:ext uri="{FF2B5EF4-FFF2-40B4-BE49-F238E27FC236}">
                <a16:creationId xmlns:a16="http://schemas.microsoft.com/office/drawing/2014/main" id="{375C3BAA-13C1-31C6-1BEB-87FE6A9240A4}"/>
              </a:ext>
            </a:extLst>
          </p:cNvPr>
          <p:cNvSpPr txBox="1"/>
          <p:nvPr/>
        </p:nvSpPr>
        <p:spPr>
          <a:xfrm>
            <a:off x="902970" y="1838360"/>
            <a:ext cx="10674985" cy="4207873"/>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Accuracy &amp; Utility: </a:t>
            </a:r>
            <a:r>
              <a:rPr lang="en-US" altLang="zh-CN" sz="2400" dirty="0" err="1">
                <a:solidFill>
                  <a:schemeClr val="tx1">
                    <a:lumMod val="75000"/>
                    <a:lumOff val="25000"/>
                  </a:schemeClr>
                </a:solidFill>
                <a:latin typeface="Roboto Light" panose="02000000000000000000" charset="0"/>
                <a:cs typeface="Roboto Light" panose="02000000000000000000" charset="0"/>
                <a:sym typeface="+mn-ea"/>
              </a:rPr>
              <a:t>mAP</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 Precision, Recall, F1, FPS</a:t>
            </a:r>
          </a:p>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Fairness: </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Demographic Parity, Equalized Odds, Subgroup Accuracy</a:t>
            </a:r>
          </a:p>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Privacy–Utility Trade-off: </a:t>
            </a:r>
            <a:r>
              <a:rPr lang="en-US" altLang="zh-CN" sz="2400" dirty="0">
                <a:solidFill>
                  <a:schemeClr val="tx1">
                    <a:lumMod val="75000"/>
                    <a:lumOff val="25000"/>
                  </a:schemeClr>
                </a:solidFill>
                <a:latin typeface="Roboto Light" panose="02000000000000000000" charset="0"/>
                <a:cs typeface="Roboto Light" panose="02000000000000000000" charset="0"/>
                <a:sym typeface="+mn-ea"/>
              </a:rPr>
              <a:t>Quantitative relationship between privacy intensity and accuracy drop</a:t>
            </a:r>
            <a:endParaRPr lang="zh-CN" altLang="en-US" sz="24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1F7B924B-A24B-DDEC-3E4A-CB3BFCCDD671}"/>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sp>
        <p:nvSpPr>
          <p:cNvPr id="10" name="object 3">
            <a:extLst>
              <a:ext uri="{FF2B5EF4-FFF2-40B4-BE49-F238E27FC236}">
                <a16:creationId xmlns:a16="http://schemas.microsoft.com/office/drawing/2014/main" id="{36DEA69D-5C91-B5E3-980F-6858B43391FA}"/>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4E181FDA-4C50-80DC-0EBE-8F446BFD5202}"/>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17</a:t>
            </a:fld>
            <a:endParaRPr lang="zh-CN" altLang="en-US" b="1" dirty="0">
              <a:solidFill>
                <a:srgbClr val="203864"/>
              </a:solidFill>
            </a:endParaRPr>
          </a:p>
        </p:txBody>
      </p:sp>
    </p:spTree>
    <p:extLst>
      <p:ext uri="{BB962C8B-B14F-4D97-AF65-F5344CB8AC3E}">
        <p14:creationId xmlns:p14="http://schemas.microsoft.com/office/powerpoint/2010/main" val="2128769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BF312-F25E-F6B0-BE71-FFC55CEE37BE}"/>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98E4686-627A-3466-915A-539F6A0DAFF5}"/>
              </a:ext>
            </a:extLst>
          </p:cNvPr>
          <p:cNvSpPr txBox="1"/>
          <p:nvPr/>
        </p:nvSpPr>
        <p:spPr>
          <a:xfrm>
            <a:off x="320675" y="200025"/>
            <a:ext cx="9631680"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 Expected Outcome/s</a:t>
            </a:r>
          </a:p>
        </p:txBody>
      </p:sp>
      <p:sp>
        <p:nvSpPr>
          <p:cNvPr id="9" name="文本框 8">
            <a:extLst>
              <a:ext uri="{FF2B5EF4-FFF2-40B4-BE49-F238E27FC236}">
                <a16:creationId xmlns:a16="http://schemas.microsoft.com/office/drawing/2014/main" id="{E8DC3BA4-F086-10AD-7A5A-0513A0D09B07}"/>
              </a:ext>
            </a:extLst>
          </p:cNvPr>
          <p:cNvSpPr txBox="1"/>
          <p:nvPr/>
        </p:nvSpPr>
        <p:spPr>
          <a:xfrm>
            <a:off x="320675" y="1316390"/>
            <a:ext cx="8748680"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indent="-457200" algn="l">
              <a:buClrTx/>
              <a:buSzTx/>
              <a:buFont typeface="Wingdings" panose="05000000000000000000" charset="0"/>
              <a:buChar char="§"/>
            </a:pPr>
            <a:r>
              <a:rPr lang="en-US" altLang="zh-CN" sz="2800" dirty="0">
                <a:solidFill>
                  <a:srgbClr val="203864"/>
                </a:solidFill>
                <a:uFillTx/>
                <a:latin typeface="Roboto Medium" panose="02000000000000000000" charset="0"/>
                <a:ea typeface="Roboto Light" panose="02000000000000000000" charset="0"/>
                <a:cs typeface="Roboto Medium" panose="02000000000000000000" charset="0"/>
                <a:sym typeface="+mn-ea"/>
              </a:rPr>
              <a:t>Expected Outcomes</a:t>
            </a:r>
          </a:p>
        </p:txBody>
      </p:sp>
      <p:sp>
        <p:nvSpPr>
          <p:cNvPr id="12" name="文本框 11">
            <a:extLst>
              <a:ext uri="{FF2B5EF4-FFF2-40B4-BE49-F238E27FC236}">
                <a16:creationId xmlns:a16="http://schemas.microsoft.com/office/drawing/2014/main" id="{897573C7-64E1-DC52-A659-9CB32372160E}"/>
              </a:ext>
            </a:extLst>
          </p:cNvPr>
          <p:cNvSpPr txBox="1"/>
          <p:nvPr/>
        </p:nvSpPr>
        <p:spPr>
          <a:xfrm>
            <a:off x="902970" y="1838360"/>
            <a:ext cx="10674985" cy="4207873"/>
          </a:xfrm>
          <a:prstGeom prst="rect">
            <a:avLst/>
          </a:prstGeom>
          <a:noFill/>
        </p:spPr>
        <p:txBody>
          <a:bodyPr wrap="square" rtlCol="0" anchor="t">
            <a:noAutofit/>
          </a:bodyPr>
          <a:lstStyle/>
          <a:p>
            <a:pPr marL="342900" indent="-342900" algn="just">
              <a:lnSpc>
                <a:spcPct val="130000"/>
              </a:lnSpc>
              <a:spcBef>
                <a:spcPts val="0"/>
              </a:spcBef>
              <a:spcAft>
                <a:spcPts val="0"/>
              </a:spcAft>
              <a:buFont typeface="Arial" panose="020B0604020202020204" pitchFamily="34" charset="0"/>
              <a:buChar char="•"/>
            </a:pPr>
            <a:r>
              <a:rPr lang="en-US" altLang="zh-CN" sz="2400" b="1" dirty="0">
                <a:solidFill>
                  <a:schemeClr val="tx1">
                    <a:lumMod val="75000"/>
                    <a:lumOff val="25000"/>
                  </a:schemeClr>
                </a:solidFill>
                <a:latin typeface="Roboto Light" panose="02000000000000000000" charset="0"/>
                <a:cs typeface="Roboto Light" panose="02000000000000000000" charset="0"/>
                <a:sym typeface="+mn-ea"/>
              </a:rPr>
              <a:t>Comprehensive Evaluation:</a:t>
            </a:r>
          </a:p>
          <a:p>
            <a:pPr marL="800100" lvl="1" indent="-342900" algn="just">
              <a:lnSpc>
                <a:spcPct val="130000"/>
              </a:lnSpc>
              <a:buFont typeface="Courier New" panose="02070309020205020404" pitchFamily="49" charset="0"/>
              <a:buChar char="o"/>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Quantitative comparison of individual and hybrid privacy-preserving techniques (face blurring, swapping) across multiple privacy intensity levels.</a:t>
            </a: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prstClr val="black">
                    <a:lumMod val="75000"/>
                    <a:lumOff val="25000"/>
                  </a:prstClr>
                </a:solidFill>
                <a:effectLst/>
                <a:uLnTx/>
                <a:uFillTx/>
                <a:latin typeface="Roboto Light" panose="02000000000000000000" charset="0"/>
                <a:ea typeface="Roboto Light" panose="02000000000000000000" pitchFamily="2" charset="0"/>
                <a:cs typeface="Roboto Light" panose="02000000000000000000" charset="0"/>
                <a:sym typeface="+mn-ea"/>
              </a:rPr>
              <a:t>Privacy–Utility–Fairness Insights:</a:t>
            </a:r>
          </a:p>
          <a:p>
            <a:pPr marL="800100" marR="0" lvl="1" indent="-342900" algn="just" defTabSz="914400" rtl="0" eaLnBrk="1" fontAlgn="auto" latinLnBrk="0" hangingPunct="1">
              <a:lnSpc>
                <a:spcPct val="130000"/>
              </a:lnSpc>
              <a:spcBef>
                <a:spcPts val="0"/>
              </a:spcBef>
              <a:spcAft>
                <a:spcPts val="0"/>
              </a:spcAft>
              <a:buClrTx/>
              <a:buSzTx/>
              <a:buFont typeface="Courier New" panose="02070309020205020404" pitchFamily="49" charset="0"/>
              <a:buChar char="o"/>
              <a:tabLst/>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Roboto Light" panose="02000000000000000000" charset="0"/>
                <a:ea typeface="Roboto Light" panose="02000000000000000000" pitchFamily="2" charset="0"/>
                <a:cs typeface="Roboto Light" panose="02000000000000000000" charset="0"/>
                <a:sym typeface="+mn-ea"/>
              </a:rPr>
              <a:t>Development of privacy–utility curves and fairness analysis to identify the optimal balance point between privacy, model accuracy, and fairness.</a:t>
            </a:r>
          </a:p>
          <a:p>
            <a:pPr marL="342900" marR="0" lvl="0" indent="-34290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prstClr val="black">
                    <a:lumMod val="75000"/>
                    <a:lumOff val="25000"/>
                  </a:prstClr>
                </a:solidFill>
                <a:effectLst/>
                <a:uLnTx/>
                <a:uFillTx/>
                <a:latin typeface="Roboto Light" panose="02000000000000000000" charset="0"/>
                <a:ea typeface="Roboto Light" panose="02000000000000000000" pitchFamily="2" charset="0"/>
                <a:cs typeface="Roboto Light" panose="02000000000000000000" charset="0"/>
                <a:sym typeface="+mn-ea"/>
              </a:rPr>
              <a:t>Optimized Hybrid Configuration:</a:t>
            </a:r>
          </a:p>
          <a:p>
            <a:pPr marL="800100" marR="0" lvl="1" indent="-342900" algn="just" defTabSz="914400" rtl="0" eaLnBrk="1" fontAlgn="auto" latinLnBrk="0" hangingPunct="1">
              <a:lnSpc>
                <a:spcPct val="130000"/>
              </a:lnSpc>
              <a:spcBef>
                <a:spcPts val="0"/>
              </a:spcBef>
              <a:spcAft>
                <a:spcPts val="0"/>
              </a:spcAft>
              <a:buClrTx/>
              <a:buSzTx/>
              <a:buFont typeface="Courier New" panose="02070309020205020404" pitchFamily="49" charset="0"/>
              <a:buChar char="o"/>
              <a:tabLst/>
              <a:defRPr/>
            </a:pPr>
            <a:r>
              <a:rPr kumimoji="0" lang="en-US" altLang="zh-CN" sz="2200" b="0" i="0" u="none" strike="noStrike" kern="1200" cap="none" spc="0" normalizeH="0" baseline="0" noProof="0" dirty="0">
                <a:ln>
                  <a:noFill/>
                </a:ln>
                <a:solidFill>
                  <a:prstClr val="black">
                    <a:lumMod val="75000"/>
                    <a:lumOff val="25000"/>
                  </a:prstClr>
                </a:solidFill>
                <a:effectLst/>
                <a:uLnTx/>
                <a:uFillTx/>
                <a:latin typeface="Roboto Light" panose="02000000000000000000" charset="0"/>
                <a:ea typeface="Roboto Light" panose="02000000000000000000" pitchFamily="2" charset="0"/>
                <a:cs typeface="Roboto Light" panose="02000000000000000000" charset="0"/>
                <a:sym typeface="+mn-ea"/>
              </a:rPr>
              <a:t>Proposal of a hybrid privacy method that minimizes accuracy loss while maintaining strong privacy and ethical compliance.</a:t>
            </a:r>
            <a:endParaRPr kumimoji="0" lang="zh-CN" altLang="en-US" sz="2200" b="0" i="0" u="none" strike="noStrike" kern="1200" cap="none" spc="0" normalizeH="0" baseline="0" noProof="0" dirty="0">
              <a:ln>
                <a:noFill/>
              </a:ln>
              <a:solidFill>
                <a:prstClr val="black">
                  <a:lumMod val="75000"/>
                  <a:lumOff val="25000"/>
                </a:prstClr>
              </a:solidFill>
              <a:effectLst/>
              <a:uLnTx/>
              <a:uFillTx/>
              <a:latin typeface="Roboto Light" panose="02000000000000000000" charset="0"/>
              <a:cs typeface="Roboto Light" panose="02000000000000000000" charset="0"/>
              <a:sym typeface="+mn-ea"/>
            </a:endParaRPr>
          </a:p>
          <a:p>
            <a:pPr marR="0" lvl="1" algn="just" defTabSz="914400" rtl="0" eaLnBrk="1" fontAlgn="auto" latinLnBrk="0" hangingPunct="1">
              <a:lnSpc>
                <a:spcPct val="130000"/>
              </a:lnSpc>
              <a:spcBef>
                <a:spcPts val="0"/>
              </a:spcBef>
              <a:spcAft>
                <a:spcPts val="0"/>
              </a:spcAft>
              <a:buClrTx/>
              <a:buSzTx/>
              <a:tabLst/>
              <a:defRPr/>
            </a:pPr>
            <a:endParaRPr kumimoji="0" lang="zh-CN" altLang="en-US" sz="2200" b="0" i="0" u="none" strike="noStrike" kern="1200" cap="none" spc="0" normalizeH="0" baseline="0" noProof="0" dirty="0">
              <a:ln>
                <a:noFill/>
              </a:ln>
              <a:solidFill>
                <a:prstClr val="black">
                  <a:lumMod val="75000"/>
                  <a:lumOff val="25000"/>
                </a:prstClr>
              </a:solidFill>
              <a:effectLst/>
              <a:uLnTx/>
              <a:uFillTx/>
              <a:latin typeface="Roboto Light" panose="02000000000000000000" charset="0"/>
              <a:cs typeface="Roboto Light" panose="02000000000000000000" charset="0"/>
              <a:sym typeface="+mn-ea"/>
            </a:endParaRPr>
          </a:p>
          <a:p>
            <a:pPr marL="800100" lvl="1" indent="-342900" algn="just">
              <a:lnSpc>
                <a:spcPct val="130000"/>
              </a:lnSpc>
              <a:buFont typeface="Courier New" panose="02070309020205020404" pitchFamily="49" charset="0"/>
              <a:buChar char="o"/>
            </a:pPr>
            <a:endParaRPr lang="zh-CN" altLang="en-US" sz="22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FD2A950F-8027-8B32-A56A-CB9248C47FA9}"/>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pic>
        <p:nvPicPr>
          <p:cNvPr id="16" name="object 6">
            <a:extLst>
              <a:ext uri="{FF2B5EF4-FFF2-40B4-BE49-F238E27FC236}">
                <a16:creationId xmlns:a16="http://schemas.microsoft.com/office/drawing/2014/main" id="{C2487AB1-E397-E89F-9DF3-6EDF3A46BC96}"/>
              </a:ext>
            </a:extLst>
          </p:cNvPr>
          <p:cNvPicPr/>
          <p:nvPr/>
        </p:nvPicPr>
        <p:blipFill>
          <a:blip r:embed="rId3" cstate="print"/>
          <a:stretch>
            <a:fillRect/>
          </a:stretch>
        </p:blipFill>
        <p:spPr>
          <a:xfrm>
            <a:off x="9952355" y="635"/>
            <a:ext cx="2239645" cy="711835"/>
          </a:xfrm>
          <a:prstGeom prst="rect">
            <a:avLst/>
          </a:prstGeom>
        </p:spPr>
      </p:pic>
      <p:sp>
        <p:nvSpPr>
          <p:cNvPr id="10" name="object 3">
            <a:extLst>
              <a:ext uri="{FF2B5EF4-FFF2-40B4-BE49-F238E27FC236}">
                <a16:creationId xmlns:a16="http://schemas.microsoft.com/office/drawing/2014/main" id="{AF8DB573-C252-0564-61A2-C411B7940022}"/>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sp>
        <p:nvSpPr>
          <p:cNvPr id="3" name="Slide Number Placeholder 2">
            <a:extLst>
              <a:ext uri="{FF2B5EF4-FFF2-40B4-BE49-F238E27FC236}">
                <a16:creationId xmlns:a16="http://schemas.microsoft.com/office/drawing/2014/main" id="{1AF740A9-46CD-52DC-D8E3-068504718482}"/>
              </a:ext>
            </a:extLst>
          </p:cNvPr>
          <p:cNvSpPr>
            <a:spLocks noGrp="1"/>
          </p:cNvSpPr>
          <p:nvPr>
            <p:ph type="sldNum" sz="quarter" idx="12"/>
          </p:nvPr>
        </p:nvSpPr>
        <p:spPr>
          <a:xfrm>
            <a:off x="5899669" y="6466302"/>
            <a:ext cx="392663" cy="365125"/>
          </a:xfrm>
        </p:spPr>
        <p:txBody>
          <a:bodyPr/>
          <a:lstStyle/>
          <a:p>
            <a:fld id="{565CE74E-AB26-4998-AD42-012C4C1AD076}" type="slidenum">
              <a:rPr lang="zh-CN" altLang="en-US" b="1" smtClean="0">
                <a:solidFill>
                  <a:srgbClr val="203864"/>
                </a:solidFill>
              </a:rPr>
              <a:t>18</a:t>
            </a:fld>
            <a:endParaRPr lang="zh-CN" altLang="en-US" b="1" dirty="0">
              <a:solidFill>
                <a:srgbClr val="203864"/>
              </a:solidFill>
            </a:endParaRPr>
          </a:p>
        </p:txBody>
      </p:sp>
    </p:spTree>
    <p:extLst>
      <p:ext uri="{BB962C8B-B14F-4D97-AF65-F5344CB8AC3E}">
        <p14:creationId xmlns:p14="http://schemas.microsoft.com/office/powerpoint/2010/main" val="270333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95EED-4A15-6681-E7A2-B967170D2E8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6D6B0A3-E6FC-DA12-86F3-AD0B8E300202}"/>
              </a:ext>
            </a:extLst>
          </p:cNvPr>
          <p:cNvSpPr txBox="1"/>
          <p:nvPr/>
        </p:nvSpPr>
        <p:spPr>
          <a:xfrm>
            <a:off x="320675" y="219075"/>
            <a:ext cx="5916930"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sz="4400" dirty="0">
                <a:solidFill>
                  <a:srgbClr val="203864"/>
                </a:solidFill>
                <a:latin typeface="Times New Roman" panose="02020603050405020304" charset="0"/>
                <a:cs typeface="Times New Roman" panose="02020603050405020304" charset="0"/>
                <a:sym typeface="+mn-ea"/>
              </a:rPr>
              <a:t>REFERENCES</a:t>
            </a:r>
            <a:endParaRPr lang="en-US"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5" name="object 2">
            <a:extLst>
              <a:ext uri="{FF2B5EF4-FFF2-40B4-BE49-F238E27FC236}">
                <a16:creationId xmlns:a16="http://schemas.microsoft.com/office/drawing/2014/main" id="{17AC2D10-93AF-8E30-BA15-9F3C7D5F9708}"/>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sp>
        <p:nvSpPr>
          <p:cNvPr id="6" name="object 3">
            <a:extLst>
              <a:ext uri="{FF2B5EF4-FFF2-40B4-BE49-F238E27FC236}">
                <a16:creationId xmlns:a16="http://schemas.microsoft.com/office/drawing/2014/main" id="{1C803918-C3A2-B5E9-7ED2-4D5CE6502A5A}"/>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pic>
        <p:nvPicPr>
          <p:cNvPr id="8" name="object 6">
            <a:extLst>
              <a:ext uri="{FF2B5EF4-FFF2-40B4-BE49-F238E27FC236}">
                <a16:creationId xmlns:a16="http://schemas.microsoft.com/office/drawing/2014/main" id="{6F2975DA-A8B8-6C5F-09EC-D9F3C4434580}"/>
              </a:ext>
            </a:extLst>
          </p:cNvPr>
          <p:cNvPicPr/>
          <p:nvPr/>
        </p:nvPicPr>
        <p:blipFill>
          <a:blip r:embed="rId3" cstate="print"/>
          <a:stretch>
            <a:fillRect/>
          </a:stretch>
        </p:blipFill>
        <p:spPr>
          <a:xfrm>
            <a:off x="9952355" y="635"/>
            <a:ext cx="2239645" cy="711835"/>
          </a:xfrm>
          <a:prstGeom prst="rect">
            <a:avLst/>
          </a:prstGeom>
        </p:spPr>
      </p:pic>
      <p:sp>
        <p:nvSpPr>
          <p:cNvPr id="3" name="文本框 11">
            <a:extLst>
              <a:ext uri="{FF2B5EF4-FFF2-40B4-BE49-F238E27FC236}">
                <a16:creationId xmlns:a16="http://schemas.microsoft.com/office/drawing/2014/main" id="{D368F438-2BF3-C93D-D4FB-1A289BBD75E5}"/>
              </a:ext>
            </a:extLst>
          </p:cNvPr>
          <p:cNvSpPr txBox="1"/>
          <p:nvPr/>
        </p:nvSpPr>
        <p:spPr>
          <a:xfrm>
            <a:off x="902970" y="1931670"/>
            <a:ext cx="10674985" cy="4207873"/>
          </a:xfrm>
          <a:prstGeom prst="rect">
            <a:avLst/>
          </a:prstGeom>
          <a:noFill/>
        </p:spPr>
        <p:txBody>
          <a:bodyPr wrap="square" rtlCol="0" anchor="t">
            <a:noAutofit/>
          </a:bodyPr>
          <a:lstStyle/>
          <a:p>
            <a:pPr algn="just">
              <a:spcAft>
                <a:spcPts val="600"/>
              </a:spcAft>
            </a:pP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[1] W. Jang and S.-Y. Lee, “Partial image encryption using format-preserving encryption in image processing systems for Internet of things environment,” International Journal of Distributed Sensor Networks, vol. 16, no. 3, p. 155014772091477, Mar. 2020, </a:t>
            </a:r>
            <a:r>
              <a:rPr lang="en-US" altLang="zh-CN" sz="1600" dirty="0" err="1">
                <a:solidFill>
                  <a:schemeClr val="tx1">
                    <a:lumMod val="75000"/>
                    <a:lumOff val="25000"/>
                  </a:schemeClr>
                </a:solidFill>
                <a:latin typeface="Roboto Light" panose="02000000000000000000" charset="0"/>
                <a:cs typeface="Roboto Light" panose="02000000000000000000" charset="0"/>
                <a:sym typeface="+mn-ea"/>
              </a:rPr>
              <a:t>doi</a:t>
            </a: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 10.1177/1550147720914779.</a:t>
            </a:r>
          </a:p>
          <a:p>
            <a:pPr algn="just">
              <a:spcAft>
                <a:spcPts val="600"/>
              </a:spcAft>
            </a:pP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[2] H. </a:t>
            </a:r>
            <a:r>
              <a:rPr lang="en-US" altLang="zh-CN" sz="1600" dirty="0" err="1">
                <a:solidFill>
                  <a:schemeClr val="tx1">
                    <a:lumMod val="75000"/>
                    <a:lumOff val="25000"/>
                  </a:schemeClr>
                </a:solidFill>
                <a:latin typeface="Roboto Light" panose="02000000000000000000" charset="0"/>
                <a:cs typeface="Roboto Light" panose="02000000000000000000" charset="0"/>
                <a:sym typeface="+mn-ea"/>
              </a:rPr>
              <a:t>Hukkelås</a:t>
            </a: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 and F. Lindseth, “Does image anonymization impact computer vision training?,” 2022 IEEE/CVF Conference on Computer Vision and Pattern Recognition Workshops (CVPRW), pp. 140–150, Jun. 2023, </a:t>
            </a:r>
            <a:r>
              <a:rPr lang="en-US" altLang="zh-CN" sz="1600" dirty="0" err="1">
                <a:solidFill>
                  <a:schemeClr val="tx1">
                    <a:lumMod val="75000"/>
                    <a:lumOff val="25000"/>
                  </a:schemeClr>
                </a:solidFill>
                <a:latin typeface="Roboto Light" panose="02000000000000000000" charset="0"/>
                <a:cs typeface="Roboto Light" panose="02000000000000000000" charset="0"/>
                <a:sym typeface="+mn-ea"/>
              </a:rPr>
              <a:t>doi</a:t>
            </a: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 10.1109/cvprw59228.2023.00019.</a:t>
            </a:r>
          </a:p>
          <a:p>
            <a:pPr algn="just">
              <a:spcAft>
                <a:spcPts val="600"/>
              </a:spcAft>
            </a:pP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[3] S. Noiret, S. Ravi, M. Kampel, and F. Florez-Revuelta, “Fairly private: Investigating the fairness of visual privacy preservation algorithms,” arXiv.org, Jan. 12, 2023. </a:t>
            </a:r>
            <a:r>
              <a:rPr lang="en-US" altLang="zh-CN" sz="1600" dirty="0">
                <a:solidFill>
                  <a:schemeClr val="tx1">
                    <a:lumMod val="75000"/>
                    <a:lumOff val="25000"/>
                  </a:schemeClr>
                </a:solidFill>
                <a:latin typeface="Roboto Light" panose="02000000000000000000" charset="0"/>
                <a:cs typeface="Roboto Light" panose="02000000000000000000" charset="0"/>
                <a:sym typeface="+mn-ea"/>
                <a:hlinkClick r:id="rId4"/>
              </a:rPr>
              <a:t>http://arxiv.org/abs/2301.05012</a:t>
            </a:r>
            <a:endParaRPr lang="en-US" altLang="zh-CN" sz="1600" dirty="0">
              <a:solidFill>
                <a:schemeClr val="tx1">
                  <a:lumMod val="75000"/>
                  <a:lumOff val="25000"/>
                </a:schemeClr>
              </a:solidFill>
              <a:latin typeface="Roboto Light" panose="02000000000000000000" charset="0"/>
              <a:cs typeface="Roboto Light" panose="02000000000000000000" charset="0"/>
              <a:sym typeface="+mn-ea"/>
            </a:endParaRPr>
          </a:p>
          <a:p>
            <a:pPr algn="just">
              <a:spcAft>
                <a:spcPts val="600"/>
              </a:spcAft>
            </a:pP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[4] H. Yang, Q. Zhou, J. Ni, H. Li, and X. Shen, “Accurate Image-Based pedestrian detection with privacy preservation,” IEEE Transactions on Vehicular Technology, vol. 69, no. 12, pp. 14494–14509, Dec. 2020, </a:t>
            </a:r>
            <a:r>
              <a:rPr lang="en-US" altLang="zh-CN" sz="1600" dirty="0" err="1">
                <a:solidFill>
                  <a:schemeClr val="tx1">
                    <a:lumMod val="75000"/>
                    <a:lumOff val="25000"/>
                  </a:schemeClr>
                </a:solidFill>
                <a:latin typeface="Roboto Light" panose="02000000000000000000" charset="0"/>
                <a:cs typeface="Roboto Light" panose="02000000000000000000" charset="0"/>
                <a:sym typeface="+mn-ea"/>
              </a:rPr>
              <a:t>doi</a:t>
            </a: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 10.1109/tvt.2020.3043203.</a:t>
            </a:r>
          </a:p>
          <a:p>
            <a:pPr algn="just">
              <a:spcAft>
                <a:spcPts val="600"/>
              </a:spcAft>
            </a:pP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[5] A. </a:t>
            </a:r>
            <a:r>
              <a:rPr lang="en-US" altLang="zh-CN" sz="1600" dirty="0" err="1">
                <a:solidFill>
                  <a:schemeClr val="tx1">
                    <a:lumMod val="75000"/>
                    <a:lumOff val="25000"/>
                  </a:schemeClr>
                </a:solidFill>
                <a:latin typeface="Roboto Light" panose="02000000000000000000" charset="0"/>
                <a:cs typeface="Roboto Light" panose="02000000000000000000" charset="0"/>
                <a:sym typeface="+mn-ea"/>
              </a:rPr>
              <a:t>Kunchala</a:t>
            </a: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 M. </a:t>
            </a:r>
            <a:r>
              <a:rPr lang="en-US" altLang="zh-CN" sz="1600" dirty="0" err="1">
                <a:solidFill>
                  <a:schemeClr val="tx1">
                    <a:lumMod val="75000"/>
                    <a:lumOff val="25000"/>
                  </a:schemeClr>
                </a:solidFill>
                <a:latin typeface="Roboto Light" panose="02000000000000000000" charset="0"/>
                <a:cs typeface="Roboto Light" panose="02000000000000000000" charset="0"/>
                <a:sym typeface="+mn-ea"/>
              </a:rPr>
              <a:t>Bouroche</a:t>
            </a: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 and B. Schoen-Phelan, “Towards a framework for Privacy-Preserving pedestrian analysis,” 2022 IEEE/CVF Winter Conference on Applications of Computer Vision (WACV), pp. 4359–4369, Jan. 2023, </a:t>
            </a:r>
            <a:r>
              <a:rPr lang="en-US" altLang="zh-CN" sz="1600" dirty="0" err="1">
                <a:solidFill>
                  <a:schemeClr val="tx1">
                    <a:lumMod val="75000"/>
                    <a:lumOff val="25000"/>
                  </a:schemeClr>
                </a:solidFill>
                <a:latin typeface="Roboto Light" panose="02000000000000000000" charset="0"/>
                <a:cs typeface="Roboto Light" panose="02000000000000000000" charset="0"/>
                <a:sym typeface="+mn-ea"/>
              </a:rPr>
              <a:t>doi</a:t>
            </a:r>
            <a:r>
              <a:rPr lang="en-US" altLang="zh-CN" sz="1600" dirty="0">
                <a:solidFill>
                  <a:schemeClr val="tx1">
                    <a:lumMod val="75000"/>
                    <a:lumOff val="25000"/>
                  </a:schemeClr>
                </a:solidFill>
                <a:latin typeface="Roboto Light" panose="02000000000000000000" charset="0"/>
                <a:cs typeface="Roboto Light" panose="02000000000000000000" charset="0"/>
                <a:sym typeface="+mn-ea"/>
              </a:rPr>
              <a:t>: 10.1109/wacv56688.2023.00435.</a:t>
            </a:r>
            <a:endParaRPr lang="zh-CN" altLang="en-US" sz="16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10" name="Slide Number Placeholder 9">
            <a:extLst>
              <a:ext uri="{FF2B5EF4-FFF2-40B4-BE49-F238E27FC236}">
                <a16:creationId xmlns:a16="http://schemas.microsoft.com/office/drawing/2014/main" id="{4DDDC1AD-52EF-4880-0555-CF86A784AA4F}"/>
              </a:ext>
            </a:extLst>
          </p:cNvPr>
          <p:cNvSpPr>
            <a:spLocks noGrp="1"/>
          </p:cNvSpPr>
          <p:nvPr>
            <p:ph type="sldNum" sz="quarter" idx="12"/>
          </p:nvPr>
        </p:nvSpPr>
        <p:spPr>
          <a:xfrm>
            <a:off x="5919496" y="6465693"/>
            <a:ext cx="353008" cy="365125"/>
          </a:xfrm>
        </p:spPr>
        <p:txBody>
          <a:bodyPr/>
          <a:lstStyle/>
          <a:p>
            <a:fld id="{565CE74E-AB26-4998-AD42-012C4C1AD076}" type="slidenum">
              <a:rPr lang="zh-CN" altLang="en-US" b="1" smtClean="0">
                <a:solidFill>
                  <a:srgbClr val="203864"/>
                </a:solidFill>
              </a:rPr>
              <a:t>19</a:t>
            </a:fld>
            <a:endParaRPr lang="zh-CN" altLang="en-US" b="1" dirty="0">
              <a:solidFill>
                <a:srgbClr val="203864"/>
              </a:solidFill>
            </a:endParaRPr>
          </a:p>
        </p:txBody>
      </p:sp>
    </p:spTree>
    <p:extLst>
      <p:ext uri="{BB962C8B-B14F-4D97-AF65-F5344CB8AC3E}">
        <p14:creationId xmlns:p14="http://schemas.microsoft.com/office/powerpoint/2010/main" val="3061260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1A1B-B794-CC01-9A2A-C9BC2B8C6FFD}"/>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78644870-C0E5-799B-48A2-2BA4401AC0AB}"/>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IS 8101 - RESEARCH PROJECT IN IS</a:t>
            </a:r>
          </a:p>
        </p:txBody>
      </p:sp>
      <p:sp>
        <p:nvSpPr>
          <p:cNvPr id="6" name="object 3">
            <a:extLst>
              <a:ext uri="{FF2B5EF4-FFF2-40B4-BE49-F238E27FC236}">
                <a16:creationId xmlns:a16="http://schemas.microsoft.com/office/drawing/2014/main" id="{41C59155-7B1A-C780-BA01-6CD037A36B3C}"/>
              </a:ext>
            </a:extLst>
          </p:cNvPr>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COMPUTING AND INFORMATION SYSTEMS</a:t>
            </a:r>
          </a:p>
        </p:txBody>
      </p:sp>
      <p:pic>
        <p:nvPicPr>
          <p:cNvPr id="8" name="object 6">
            <a:extLst>
              <a:ext uri="{FF2B5EF4-FFF2-40B4-BE49-F238E27FC236}">
                <a16:creationId xmlns:a16="http://schemas.microsoft.com/office/drawing/2014/main" id="{6C797058-EE1A-5163-FD12-9E03BA51DDEB}"/>
              </a:ext>
            </a:extLst>
          </p:cNvPr>
          <p:cNvPicPr/>
          <p:nvPr/>
        </p:nvPicPr>
        <p:blipFill>
          <a:blip r:embed="rId3" cstate="print"/>
          <a:stretch>
            <a:fillRect/>
          </a:stretch>
        </p:blipFill>
        <p:spPr>
          <a:xfrm>
            <a:off x="9952355" y="635"/>
            <a:ext cx="2239645" cy="711835"/>
          </a:xfrm>
          <a:prstGeom prst="rect">
            <a:avLst/>
          </a:prstGeom>
        </p:spPr>
      </p:pic>
      <p:sp>
        <p:nvSpPr>
          <p:cNvPr id="10" name="Slide Number Placeholder 9">
            <a:extLst>
              <a:ext uri="{FF2B5EF4-FFF2-40B4-BE49-F238E27FC236}">
                <a16:creationId xmlns:a16="http://schemas.microsoft.com/office/drawing/2014/main" id="{991446AB-7FCF-0BD2-D77F-509D1F006BB3}"/>
              </a:ext>
            </a:extLst>
          </p:cNvPr>
          <p:cNvSpPr>
            <a:spLocks noGrp="1"/>
          </p:cNvSpPr>
          <p:nvPr>
            <p:ph type="sldNum" sz="quarter" idx="12"/>
          </p:nvPr>
        </p:nvSpPr>
        <p:spPr>
          <a:xfrm>
            <a:off x="5919496" y="6465693"/>
            <a:ext cx="353008" cy="365125"/>
          </a:xfrm>
        </p:spPr>
        <p:txBody>
          <a:bodyPr/>
          <a:lstStyle/>
          <a:p>
            <a:fld id="{565CE74E-AB26-4998-AD42-012C4C1AD076}" type="slidenum">
              <a:rPr lang="zh-CN" altLang="en-US" b="1" smtClean="0">
                <a:solidFill>
                  <a:srgbClr val="203864"/>
                </a:solidFill>
              </a:rPr>
              <a:t>20</a:t>
            </a:fld>
            <a:endParaRPr lang="zh-CN" altLang="en-US" b="1" dirty="0">
              <a:solidFill>
                <a:srgbClr val="203864"/>
              </a:solidFill>
            </a:endParaRPr>
          </a:p>
        </p:txBody>
      </p:sp>
      <p:pic>
        <p:nvPicPr>
          <p:cNvPr id="5122" name="Picture 2" descr="Q&amp;a - Free education icons">
            <a:extLst>
              <a:ext uri="{FF2B5EF4-FFF2-40B4-BE49-F238E27FC236}">
                <a16:creationId xmlns:a16="http://schemas.microsoft.com/office/drawing/2014/main" id="{EA0D0653-C87A-CFC2-BA6B-CE7165810D3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45880" y="4165600"/>
            <a:ext cx="2026919" cy="2026919"/>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3">
            <a:extLst>
              <a:ext uri="{FF2B5EF4-FFF2-40B4-BE49-F238E27FC236}">
                <a16:creationId xmlns:a16="http://schemas.microsoft.com/office/drawing/2014/main" id="{DB5236D2-A024-58CF-141C-C1F1B0183852}"/>
              </a:ext>
            </a:extLst>
          </p:cNvPr>
          <p:cNvSpPr txBox="1"/>
          <p:nvPr/>
        </p:nvSpPr>
        <p:spPr>
          <a:xfrm>
            <a:off x="1980248" y="2926715"/>
            <a:ext cx="8231505" cy="1004570"/>
          </a:xfrm>
          <a:prstGeom prst="rect">
            <a:avLst/>
          </a:prstGeom>
          <a:noFill/>
        </p:spPr>
        <p:txBody>
          <a:bodyPr wrap="square" rtlCol="0" anchor="t">
            <a:spAutoFit/>
          </a:bodyPr>
          <a:lstStyle/>
          <a:p>
            <a:pPr algn="ctr">
              <a:lnSpc>
                <a:spcPct val="90000"/>
              </a:lnSpc>
              <a:spcBef>
                <a:spcPts val="0"/>
              </a:spcBef>
              <a:spcAft>
                <a:spcPts val="0"/>
              </a:spcAft>
            </a:pPr>
            <a:r>
              <a:rPr lang="en-US" altLang="zh-CN" sz="6600" dirty="0">
                <a:solidFill>
                  <a:srgbClr val="203864"/>
                </a:solidFill>
                <a:latin typeface="Roboto Black" panose="02000000000000000000" charset="0"/>
                <a:cs typeface="Roboto Black" panose="02000000000000000000" charset="0"/>
              </a:rPr>
              <a:t>Q &amp; A</a:t>
            </a:r>
          </a:p>
        </p:txBody>
      </p:sp>
    </p:spTree>
    <p:extLst>
      <p:ext uri="{BB962C8B-B14F-4D97-AF65-F5344CB8AC3E}">
        <p14:creationId xmlns:p14="http://schemas.microsoft.com/office/powerpoint/2010/main" val="318544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980248" y="2926715"/>
            <a:ext cx="8231505" cy="1004570"/>
          </a:xfrm>
          <a:prstGeom prst="rect">
            <a:avLst/>
          </a:prstGeom>
          <a:noFill/>
        </p:spPr>
        <p:txBody>
          <a:bodyPr wrap="square" rtlCol="0" anchor="t">
            <a:spAutoFit/>
          </a:bodyPr>
          <a:lstStyle/>
          <a:p>
            <a:pPr algn="ctr">
              <a:lnSpc>
                <a:spcPct val="90000"/>
              </a:lnSpc>
              <a:spcBef>
                <a:spcPts val="0"/>
              </a:spcBef>
              <a:spcAft>
                <a:spcPts val="0"/>
              </a:spcAft>
            </a:pPr>
            <a:r>
              <a:rPr lang="en-US" altLang="zh-CN" sz="6600" dirty="0">
                <a:solidFill>
                  <a:srgbClr val="203864"/>
                </a:solidFill>
                <a:latin typeface="Roboto Black" panose="02000000000000000000" charset="0"/>
                <a:cs typeface="Roboto Black" panose="02000000000000000000" charset="0"/>
              </a:rPr>
              <a:t>Thank You</a:t>
            </a:r>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21</a:t>
            </a:fld>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M3ZDNiNjQ5MjMwNGE4NGUzZGUzN2M4NzZkODkzZjgifQ=="/>
  <p:tag name="KSO_WPP_MARK_KEY" val="e6e9437c-a177-4588-88b5-a71076b8cdc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Roboto Light"/>
        <a:ea typeface=""/>
        <a:cs typeface=""/>
        <a:font script="Jpan" typeface="ＭＳ Ｐゴシック"/>
        <a:font script="Hang" typeface="맑은 고딕"/>
        <a:font script="Hans" typeface="Roboto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Light"/>
        <a:ea typeface=""/>
        <a:cs typeface=""/>
        <a:font script="Jpan" typeface="ＭＳ Ｐゴシック"/>
        <a:font script="Hang" typeface="맑은 고딕"/>
        <a:font script="Hans" typeface="Roboto Light"/>
        <a:font script="Hant" typeface="新細明體"/>
        <a:font script="Arab" typeface="Roboto Light"/>
        <a:font script="Hebr" typeface="Roboto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Roboto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Light"/>
        <a:ea typeface=""/>
        <a:cs typeface=""/>
        <a:font script="Jpan" typeface="ＭＳ Ｐゴシック"/>
        <a:font script="Hang" typeface="맑은 고딕"/>
        <a:font script="Hans" typeface="Roboto Light"/>
        <a:font script="Hant" typeface="新細明體"/>
        <a:font script="Arab" typeface="Roboto Light"/>
        <a:font script="Hebr" typeface="Roboto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Roboto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Light"/>
        <a:ea typeface=""/>
        <a:cs typeface=""/>
        <a:font script="Jpan" typeface="ＭＳ Ｐゴシック"/>
        <a:font script="Hang" typeface="맑은 고딕"/>
        <a:font script="Hans" typeface="Roboto Light"/>
        <a:font script="Hant" typeface="新細明體"/>
        <a:font script="Arab" typeface="Roboto Light"/>
        <a:font script="Hebr" typeface="Roboto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3860</TotalTime>
  <Words>1789</Words>
  <Application>Microsoft Office PowerPoint</Application>
  <PresentationFormat>Widescreen</PresentationFormat>
  <Paragraphs>218</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Wingdings</vt:lpstr>
      <vt:lpstr>Courier New</vt:lpstr>
      <vt:lpstr>Times New Roman</vt:lpstr>
      <vt:lpstr>Arial</vt:lpstr>
      <vt:lpstr>Roboto Black</vt:lpstr>
      <vt:lpstr>Roboto Medium</vt:lpstr>
      <vt:lpstr>Calibri</vt:lpstr>
      <vt:lpstr>Roboto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Nimtharu Jayasekara</cp:lastModifiedBy>
  <cp:revision>256</cp:revision>
  <cp:lastPrinted>2025-10-12T12:06:40Z</cp:lastPrinted>
  <dcterms:created xsi:type="dcterms:W3CDTF">2023-04-03T04:16:00Z</dcterms:created>
  <dcterms:modified xsi:type="dcterms:W3CDTF">2025-10-14T15:33:15Z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64868AED8E024840AF6A42F2086C239C_13</vt:lpwstr>
  </property>
  <property fmtid="{D5CDD505-2E9C-101B-9397-08002B2CF9AE}" pid="3" name="KSOProductBuildVer">
    <vt:lpwstr>1033-12.2.0.20326</vt:lpwstr>
  </property>
</Properties>
</file>